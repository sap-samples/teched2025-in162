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278" r:id="rId5"/>
    <p:sldId id="2147483262" r:id="rId6"/>
    <p:sldId id="2147483263" r:id="rId7"/>
    <p:sldId id="2147483261" r:id="rId8"/>
    <p:sldId id="266" r:id="rId9"/>
    <p:sldId id="27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46471E-E735-6F59-87A6-D6A2A0743024}" name="Autaum Kendle" initials="AK" userId="S::autaum.kendle@asug.com::5533caf5-ec9c-49e8-b9c8-89b853076e4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235"/>
    <a:srgbClr val="EFE8F2"/>
    <a:srgbClr val="642B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55"/>
    <p:restoredTop sz="84452"/>
  </p:normalViewPr>
  <p:slideViewPr>
    <p:cSldViewPr snapToGrid="0">
      <p:cViewPr varScale="1">
        <p:scale>
          <a:sx n="106" d="100"/>
          <a:sy n="106" d="100"/>
        </p:scale>
        <p:origin x="2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4D89A-E3CF-7042-B702-F8D577744DCD}"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9BEC6-01EC-2A47-B6A1-29905CFDF1B4}" type="slidenum">
              <a:rPr lang="en-US" smtClean="0"/>
              <a:t>‹#›</a:t>
            </a:fld>
            <a:endParaRPr lang="en-US"/>
          </a:p>
        </p:txBody>
      </p:sp>
    </p:spTree>
    <p:extLst>
      <p:ext uri="{BB962C8B-B14F-4D97-AF65-F5344CB8AC3E}">
        <p14:creationId xmlns:p14="http://schemas.microsoft.com/office/powerpoint/2010/main" val="3040384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3DDC-1EBA-DFA9-9F97-9A5596735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BDB6D-D7E4-098E-CEB1-EC453DFC8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9336B-C082-9DA8-C580-29A6A2A51703}"/>
              </a:ext>
            </a:extLst>
          </p:cNvPr>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IN" sz="1400" b="0" i="0" kern="1200" dirty="0">
                <a:solidFill>
                  <a:schemeClr val="tx1"/>
                </a:solidFill>
                <a:effectLst/>
                <a:latin typeface="Arial" panose="020B0604020202020204" pitchFamily="34" charset="0"/>
                <a:ea typeface="+mn-ea"/>
                <a:cs typeface="+mn-cs"/>
              </a:rPr>
              <a:t>Within the Cloud Integration capability of SAP Integration Suite, two Integration Flows subscribe to new Sales Order and Support Case events via the Cloud Integration Advanced Event Mesh sender adapter, which uses the Solace Message Format (SMF) protocol. Each flow performs lookup calls to SAP S/4HANA Cloud and SAP Service Cloud, version 2, to enrich the event with additional details, applies message mapping, converts the payload to JSON, and then invokes the SAP AI Core API to generate embeddings using the text-embedding-3-small model. These embeddings are stored in an SAP HANA Cloud vector database and used to ground a large language model in real time. This scenario demonstrates real-time vector grounding with SAP HANA Cloud, SAP Integration Suite, and SAP Integration Suite, advanced event mesh—showing how data updates can instantly influence model responses so they remain current and contextually accurate. By the end, you will have an end-to-end, event-driven flow that reacts to new Sales Order events from SAP S/4HANA Cloud and new Support Case events from SAP Service Cloud, version 2, providing rich, real-time context to an AI assistant.</a:t>
            </a:r>
            <a:endParaRPr lang="en-GB" dirty="0"/>
          </a:p>
          <a:p>
            <a:endParaRPr lang="en-GB" dirty="0"/>
          </a:p>
        </p:txBody>
      </p:sp>
      <p:sp>
        <p:nvSpPr>
          <p:cNvPr id="4" name="Slide Number Placeholder 3">
            <a:extLst>
              <a:ext uri="{FF2B5EF4-FFF2-40B4-BE49-F238E27FC236}">
                <a16:creationId xmlns:a16="http://schemas.microsoft.com/office/drawing/2014/main" id="{6E588D86-50D2-B1F7-4B36-48860844730C}"/>
              </a:ext>
            </a:extLst>
          </p:cNvPr>
          <p:cNvSpPr>
            <a:spLocks noGrp="1"/>
          </p:cNvSpPr>
          <p:nvPr>
            <p:ph type="sldNum" sz="quarter" idx="5"/>
          </p:nvPr>
        </p:nvSpPr>
        <p:spPr/>
        <p:txBody>
          <a:bodyPr/>
          <a:lstStyle/>
          <a:p>
            <a:fld id="{7D8C2C35-2B8A-446E-BEC0-FD36716C29AC}" type="slidenum">
              <a:rPr lang="en-DE" smtClean="0"/>
              <a:pPr/>
              <a:t>4</a:t>
            </a:fld>
            <a:endParaRPr lang="en-DE"/>
          </a:p>
        </p:txBody>
      </p:sp>
    </p:spTree>
    <p:extLst>
      <p:ext uri="{BB962C8B-B14F-4D97-AF65-F5344CB8AC3E}">
        <p14:creationId xmlns:p14="http://schemas.microsoft.com/office/powerpoint/2010/main" val="14847779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9D2B26-E364-27C2-7A61-CA92E7929584}"/>
              </a:ext>
            </a:extLst>
          </p:cNvPr>
          <p:cNvSpPr/>
          <p:nvPr userDrawn="1"/>
        </p:nvSpPr>
        <p:spPr>
          <a:xfrm>
            <a:off x="0" y="-72571"/>
            <a:ext cx="12192000" cy="7315200"/>
          </a:xfrm>
          <a:prstGeom prst="rect">
            <a:avLst/>
          </a:prstGeom>
          <a:solidFill>
            <a:srgbClr val="0012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28DB99-250D-7DD2-C287-DEF9D7A52880}"/>
              </a:ext>
            </a:extLst>
          </p:cNvPr>
          <p:cNvSpPr>
            <a:spLocks noGrp="1"/>
          </p:cNvSpPr>
          <p:nvPr>
            <p:ph type="ctrTitle"/>
          </p:nvPr>
        </p:nvSpPr>
        <p:spPr>
          <a:xfrm>
            <a:off x="838200" y="1475931"/>
            <a:ext cx="5524364" cy="2387600"/>
          </a:xfrm>
        </p:spPr>
        <p:txBody>
          <a:bodyPr anchor="b"/>
          <a:lstStyle>
            <a:lvl1pPr algn="l">
              <a:defRPr sz="60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43884988-EBD9-4558-BF1C-ECB430D964E1}"/>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D7425B44-DBF1-0E9D-3099-B20C1C42F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9CD956-DA1C-3E19-CF74-3794517316AC}"/>
              </a:ext>
            </a:extLst>
          </p:cNvPr>
          <p:cNvSpPr>
            <a:spLocks noGrp="1"/>
          </p:cNvSpPr>
          <p:nvPr>
            <p:ph type="sldNum" sz="quarter" idx="12"/>
          </p:nvPr>
        </p:nvSpPr>
        <p:spPr/>
        <p:txBody>
          <a:bodyPr/>
          <a:lstStyle/>
          <a:p>
            <a:fld id="{C950A79A-0E96-CE40-9BFE-879F930265B3}" type="slidenum">
              <a:rPr lang="en-US" smtClean="0"/>
              <a:t>‹#›</a:t>
            </a:fld>
            <a:endParaRPr lang="en-US"/>
          </a:p>
        </p:txBody>
      </p:sp>
      <p:pic>
        <p:nvPicPr>
          <p:cNvPr id="9" name="Picture 8">
            <a:extLst>
              <a:ext uri="{FF2B5EF4-FFF2-40B4-BE49-F238E27FC236}">
                <a16:creationId xmlns:a16="http://schemas.microsoft.com/office/drawing/2014/main" id="{C6BBCBCA-09C9-B04F-16DC-877859E0B9B4}"/>
              </a:ext>
            </a:extLst>
          </p:cNvPr>
          <p:cNvPicPr>
            <a:picLocks noChangeAspect="1"/>
          </p:cNvPicPr>
          <p:nvPr userDrawn="1"/>
        </p:nvPicPr>
        <p:blipFill>
          <a:blip r:embed="rId2"/>
          <a:stretch>
            <a:fillRect/>
          </a:stretch>
        </p:blipFill>
        <p:spPr>
          <a:xfrm>
            <a:off x="987272" y="5412033"/>
            <a:ext cx="4803928" cy="911409"/>
          </a:xfrm>
          <a:prstGeom prst="rect">
            <a:avLst/>
          </a:prstGeom>
        </p:spPr>
      </p:pic>
      <p:pic>
        <p:nvPicPr>
          <p:cNvPr id="10" name="Picture 9">
            <a:extLst>
              <a:ext uri="{FF2B5EF4-FFF2-40B4-BE49-F238E27FC236}">
                <a16:creationId xmlns:a16="http://schemas.microsoft.com/office/drawing/2014/main" id="{0BB6E674-6517-EC49-0E5A-45F1B2D5F3BE}"/>
              </a:ext>
            </a:extLst>
          </p:cNvPr>
          <p:cNvPicPr>
            <a:picLocks noChangeAspect="1"/>
          </p:cNvPicPr>
          <p:nvPr userDrawn="1"/>
        </p:nvPicPr>
        <p:blipFill>
          <a:blip r:embed="rId3"/>
          <a:srcRect b="21174"/>
          <a:stretch/>
        </p:blipFill>
        <p:spPr>
          <a:xfrm>
            <a:off x="6895071" y="-60995"/>
            <a:ext cx="5309286" cy="7315200"/>
          </a:xfrm>
          <a:prstGeom prst="rect">
            <a:avLst/>
          </a:prstGeom>
        </p:spPr>
      </p:pic>
    </p:spTree>
    <p:extLst>
      <p:ext uri="{BB962C8B-B14F-4D97-AF65-F5344CB8AC3E}">
        <p14:creationId xmlns:p14="http://schemas.microsoft.com/office/powerpoint/2010/main" val="1401414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74B407-839C-FBA7-1BED-81E0385C3589}"/>
              </a:ext>
            </a:extLst>
          </p:cNvPr>
          <p:cNvSpPr/>
          <p:nvPr userDrawn="1"/>
        </p:nvSpPr>
        <p:spPr>
          <a:xfrm>
            <a:off x="1" y="1"/>
            <a:ext cx="12191999" cy="6858000"/>
          </a:xfrm>
          <a:prstGeom prst="rect">
            <a:avLst/>
          </a:prstGeom>
          <a:solidFill>
            <a:srgbClr val="0012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28DB99-250D-7DD2-C287-DEF9D7A52880}"/>
              </a:ext>
            </a:extLst>
          </p:cNvPr>
          <p:cNvSpPr>
            <a:spLocks noGrp="1"/>
          </p:cNvSpPr>
          <p:nvPr>
            <p:ph type="ctrTitle"/>
          </p:nvPr>
        </p:nvSpPr>
        <p:spPr>
          <a:xfrm>
            <a:off x="987273" y="1503793"/>
            <a:ext cx="5593410" cy="2387600"/>
          </a:xfrm>
        </p:spPr>
        <p:txBody>
          <a:bodyPr anchor="b"/>
          <a:lstStyle>
            <a:lvl1pPr algn="l">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EFF214F6-98F1-DC7F-A563-1E6619E974AD}"/>
              </a:ext>
            </a:extLst>
          </p:cNvPr>
          <p:cNvSpPr>
            <a:spLocks noGrp="1"/>
          </p:cNvSpPr>
          <p:nvPr>
            <p:ph type="subTitle" idx="1"/>
          </p:nvPr>
        </p:nvSpPr>
        <p:spPr>
          <a:xfrm>
            <a:off x="987273" y="3930400"/>
            <a:ext cx="559341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3884988-EBD9-4558-BF1C-ECB430D964E1}"/>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D7425B44-DBF1-0E9D-3099-B20C1C42F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9CD956-DA1C-3E19-CF74-3794517316AC}"/>
              </a:ext>
            </a:extLst>
          </p:cNvPr>
          <p:cNvSpPr>
            <a:spLocks noGrp="1"/>
          </p:cNvSpPr>
          <p:nvPr>
            <p:ph type="sldNum" sz="quarter" idx="12"/>
          </p:nvPr>
        </p:nvSpPr>
        <p:spPr/>
        <p:txBody>
          <a:bodyPr/>
          <a:lstStyle/>
          <a:p>
            <a:fld id="{C950A79A-0E96-CE40-9BFE-879F930265B3}" type="slidenum">
              <a:rPr lang="en-US" smtClean="0"/>
              <a:t>‹#›</a:t>
            </a:fld>
            <a:endParaRPr lang="en-US"/>
          </a:p>
        </p:txBody>
      </p:sp>
      <p:pic>
        <p:nvPicPr>
          <p:cNvPr id="9" name="Picture 8">
            <a:extLst>
              <a:ext uri="{FF2B5EF4-FFF2-40B4-BE49-F238E27FC236}">
                <a16:creationId xmlns:a16="http://schemas.microsoft.com/office/drawing/2014/main" id="{CCAB99AA-8DDC-F745-58A3-9F3318367536}"/>
              </a:ext>
            </a:extLst>
          </p:cNvPr>
          <p:cNvPicPr>
            <a:picLocks noChangeAspect="1"/>
          </p:cNvPicPr>
          <p:nvPr userDrawn="1"/>
        </p:nvPicPr>
        <p:blipFill>
          <a:blip r:embed="rId2"/>
          <a:stretch>
            <a:fillRect/>
          </a:stretch>
        </p:blipFill>
        <p:spPr>
          <a:xfrm>
            <a:off x="6977753" y="2898173"/>
            <a:ext cx="4666079" cy="885256"/>
          </a:xfrm>
          <a:prstGeom prst="rect">
            <a:avLst/>
          </a:prstGeom>
        </p:spPr>
      </p:pic>
    </p:spTree>
    <p:extLst>
      <p:ext uri="{BB962C8B-B14F-4D97-AF65-F5344CB8AC3E}">
        <p14:creationId xmlns:p14="http://schemas.microsoft.com/office/powerpoint/2010/main" val="221788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9E93-9E44-1AE6-7740-10F6BFFA24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3AA388-AE3B-D6ED-3BBA-DB25538E80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C4124D0E-2F85-1FDA-DE4C-5C108432B729}"/>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12" name="Footer Placeholder 11">
            <a:extLst>
              <a:ext uri="{FF2B5EF4-FFF2-40B4-BE49-F238E27FC236}">
                <a16:creationId xmlns:a16="http://schemas.microsoft.com/office/drawing/2014/main" id="{A362EE9F-FE93-8E7B-7734-9538AECAEC2C}"/>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5B5333D0-E330-39EA-9000-14BD93340467}"/>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2980888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613C-459D-8A3B-8270-5C7718FB91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EFA0F7-2291-DA06-6D5C-227C6F34D4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297958-B6DF-7600-0D68-5578E4FF4B28}"/>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9C148D6D-8371-B85F-C4AC-5CE72CA6A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83E48-8F3B-CFC0-AF32-16ADD17B8B12}"/>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1945648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E8F4-3E0C-A535-84C7-54D7C3FF91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405AFE-76BF-15E3-5BA6-D89ED36602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F8C264-B451-9BFC-27B5-90AE79C4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05FAC5-DB25-3D6A-F82E-D264ABF91EB7}"/>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6" name="Footer Placeholder 5">
            <a:extLst>
              <a:ext uri="{FF2B5EF4-FFF2-40B4-BE49-F238E27FC236}">
                <a16:creationId xmlns:a16="http://schemas.microsoft.com/office/drawing/2014/main" id="{7E31FCDB-8602-AC9A-B2C4-A6498ED977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64F2-1350-5F06-EC5E-750F9F97869F}"/>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1158948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3B6A-A8AD-982E-6890-6BD7390BEE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C3EA64-207F-AC33-E134-6BC9D454C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8065F1-B7D6-AEDC-DB32-60CB6F3EB4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040673-719A-416B-9A9D-19179D8E30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FD06E-5DEA-4151-5815-0B8F364666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105E22-36F3-8408-3E7C-FEFEF500FF7D}"/>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8" name="Footer Placeholder 7">
            <a:extLst>
              <a:ext uri="{FF2B5EF4-FFF2-40B4-BE49-F238E27FC236}">
                <a16:creationId xmlns:a16="http://schemas.microsoft.com/office/drawing/2014/main" id="{03934548-E78E-0D5C-DD3E-4EEC671A71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0B2E1A-70E0-463F-D9FA-E0C64D63E04D}"/>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563283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CA030-AC5E-789C-3FD2-FE83C20B83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66972D-CE23-4E3F-4521-43C248401382}"/>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4" name="Footer Placeholder 3">
            <a:extLst>
              <a:ext uri="{FF2B5EF4-FFF2-40B4-BE49-F238E27FC236}">
                <a16:creationId xmlns:a16="http://schemas.microsoft.com/office/drawing/2014/main" id="{F7E6BB34-FDC3-0DD1-4B84-A8085353AA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442F85-F594-C241-C3BB-F4ADBF16F81D}"/>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11118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51568-977E-966D-2BBE-E5083A9173CD}"/>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3" name="Footer Placeholder 2">
            <a:extLst>
              <a:ext uri="{FF2B5EF4-FFF2-40B4-BE49-F238E27FC236}">
                <a16:creationId xmlns:a16="http://schemas.microsoft.com/office/drawing/2014/main" id="{CA0DBD4B-4B24-63DF-B4E3-B3ECA47B6A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306CA1-8F5D-2864-0E0E-9A1F012D7129}"/>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480866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1DB60-C1DE-548A-F7A3-37F5F5BFA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358107-7111-EE80-9307-52B661A249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336FF5-FFE0-5116-1A44-5263618FF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4A4A46-485F-D3D5-9627-44332E8499B6}"/>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6" name="Footer Placeholder 5">
            <a:extLst>
              <a:ext uri="{FF2B5EF4-FFF2-40B4-BE49-F238E27FC236}">
                <a16:creationId xmlns:a16="http://schemas.microsoft.com/office/drawing/2014/main" id="{73EDB86A-49F4-81D2-D78A-5896733B9A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FC410-BCED-5183-A6EF-EB0DA22E1CAC}"/>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1011784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2AC8D-BD82-0F61-2D3A-0E158B32B2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1CB982-F3EF-DF12-A8A3-86D539E4E9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53E00F-0529-8787-204C-56E5F72B2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65033-466A-F7B6-4D83-8190E4E0CD29}"/>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6" name="Footer Placeholder 5">
            <a:extLst>
              <a:ext uri="{FF2B5EF4-FFF2-40B4-BE49-F238E27FC236}">
                <a16:creationId xmlns:a16="http://schemas.microsoft.com/office/drawing/2014/main" id="{4453A8AB-B56A-757A-485C-8E8CCAEAED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BFE1B-C282-9D80-0CA0-A3693C5B514F}"/>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1399824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F728-EBF8-0DF3-915F-3C244F4CA3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0DC5F7-EF68-B9C2-B81C-B8F53444C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11645E-46E5-C7A6-6C16-B8D30BCADE4C}"/>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4D68081F-BA3D-758A-E6DB-EFE2F50D01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9EF7B-8E5A-9C1E-B1F3-84F344422A0B}"/>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3834719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7E81D0-3262-2F42-E637-A96B0B798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3CF9B8-B03F-B70B-7D43-181BC7171D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96E49-8271-5821-7870-64B3FEA7F359}"/>
              </a:ext>
            </a:extLst>
          </p:cNvPr>
          <p:cNvSpPr>
            <a:spLocks noGrp="1"/>
          </p:cNvSpPr>
          <p:nvPr>
            <p:ph type="dt" sz="half" idx="10"/>
          </p:nvPr>
        </p:nvSpPr>
        <p:spPr/>
        <p:txBody>
          <a:body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9CAA5837-5FF5-B504-D1F0-34E75FF66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05D99-F05D-169B-5C09-DE27DF754EC2}"/>
              </a:ext>
            </a:extLst>
          </p:cNvPr>
          <p:cNvSpPr>
            <a:spLocks noGrp="1"/>
          </p:cNvSpPr>
          <p:nvPr>
            <p:ph type="sldNum" sz="quarter" idx="12"/>
          </p:nvPr>
        </p:nvSpPr>
        <p:spPr/>
        <p:txBody>
          <a:bodyPr/>
          <a:lstStyle/>
          <a:p>
            <a:fld id="{C950A79A-0E96-CE40-9BFE-879F930265B3}" type="slidenum">
              <a:rPr lang="en-US" smtClean="0"/>
              <a:t>‹#›</a:t>
            </a:fld>
            <a:endParaRPr lang="en-US"/>
          </a:p>
        </p:txBody>
      </p:sp>
    </p:spTree>
    <p:extLst>
      <p:ext uri="{BB962C8B-B14F-4D97-AF65-F5344CB8AC3E}">
        <p14:creationId xmlns:p14="http://schemas.microsoft.com/office/powerpoint/2010/main" val="29080979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548000"/>
            <a:ext cx="11183565"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69" y="504000"/>
            <a:ext cx="11183564"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64369130"/>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47D07E-067B-6C5E-EEAB-CD67A5D5C84D}"/>
              </a:ext>
            </a:extLst>
          </p:cNvPr>
          <p:cNvSpPr/>
          <p:nvPr userDrawn="1"/>
        </p:nvSpPr>
        <p:spPr>
          <a:xfrm>
            <a:off x="1" y="6176963"/>
            <a:ext cx="12191999" cy="681037"/>
          </a:xfrm>
          <a:prstGeom prst="rect">
            <a:avLst/>
          </a:prstGeom>
          <a:solidFill>
            <a:srgbClr val="0012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75477C7-A1D4-5DA5-5A9B-860DCB8194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6BCD4F-6E57-E560-3852-1E0A0DF137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A09EEA-A8EF-4AFF-AAF8-B6AF653F08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1B734-DFA2-C644-BD45-20623A7DDDFA}" type="datetimeFigureOut">
              <a:rPr lang="en-US" smtClean="0"/>
              <a:t>11/4/25</a:t>
            </a:fld>
            <a:endParaRPr lang="en-US"/>
          </a:p>
        </p:txBody>
      </p:sp>
      <p:sp>
        <p:nvSpPr>
          <p:cNvPr id="5" name="Footer Placeholder 4">
            <a:extLst>
              <a:ext uri="{FF2B5EF4-FFF2-40B4-BE49-F238E27FC236}">
                <a16:creationId xmlns:a16="http://schemas.microsoft.com/office/drawing/2014/main" id="{91083F29-C817-B28D-5A0A-4AFCD6F768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BF21FE-2351-1F4E-B63A-5768FB1E67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50A79A-0E96-CE40-9BFE-879F930265B3}" type="slidenum">
              <a:rPr lang="en-US" smtClean="0"/>
              <a:t>‹#›</a:t>
            </a:fld>
            <a:endParaRPr lang="en-US"/>
          </a:p>
        </p:txBody>
      </p:sp>
      <p:pic>
        <p:nvPicPr>
          <p:cNvPr id="11" name="Picture 10">
            <a:extLst>
              <a:ext uri="{FF2B5EF4-FFF2-40B4-BE49-F238E27FC236}">
                <a16:creationId xmlns:a16="http://schemas.microsoft.com/office/drawing/2014/main" id="{05027A0B-0302-07D1-0DDD-2EC9124B6B61}"/>
              </a:ext>
            </a:extLst>
          </p:cNvPr>
          <p:cNvPicPr>
            <a:picLocks noChangeAspect="1"/>
          </p:cNvPicPr>
          <p:nvPr userDrawn="1"/>
        </p:nvPicPr>
        <p:blipFill>
          <a:blip r:embed="rId15"/>
          <a:stretch>
            <a:fillRect/>
          </a:stretch>
        </p:blipFill>
        <p:spPr>
          <a:xfrm>
            <a:off x="9276076" y="6291275"/>
            <a:ext cx="2384612" cy="452413"/>
          </a:xfrm>
          <a:prstGeom prst="rect">
            <a:avLst/>
          </a:prstGeom>
        </p:spPr>
      </p:pic>
    </p:spTree>
    <p:extLst>
      <p:ext uri="{BB962C8B-B14F-4D97-AF65-F5344CB8AC3E}">
        <p14:creationId xmlns:p14="http://schemas.microsoft.com/office/powerpoint/2010/main" val="191277416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b="1"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27.svg"/><Relationship Id="rId20" Type="http://schemas.openxmlformats.org/officeDocument/2006/relationships/image" Target="../media/image31.svg"/><Relationship Id="rId29" Type="http://schemas.openxmlformats.org/officeDocument/2006/relationships/image" Target="../media/image40.svg"/><Relationship Id="rId1" Type="http://schemas.openxmlformats.org/officeDocument/2006/relationships/slideLayout" Target="../slideLayouts/slideLayout13.xml"/><Relationship Id="rId6" Type="http://schemas.openxmlformats.org/officeDocument/2006/relationships/image" Target="../media/image17.sv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svg"/><Relationship Id="rId27" Type="http://schemas.openxmlformats.org/officeDocument/2006/relationships/image" Target="../media/image38.svg"/></Relationships>
</file>

<file path=ppt/slides/_rels/slide5.xml.rels><?xml version="1.0" encoding="UTF-8" standalone="yes"?>
<Relationships xmlns="http://schemas.openxmlformats.org/package/2006/relationships"><Relationship Id="rId3" Type="http://schemas.openxmlformats.org/officeDocument/2006/relationships/hyperlink" Target="mailto:Vinayak.adkoli@sap.com" TargetMode="External"/><Relationship Id="rId2" Type="http://schemas.openxmlformats.org/officeDocument/2006/relationships/hyperlink" Target="mailto:gayathri.narayana@sap.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41C2B-1BD5-2897-D5A8-093A6917427D}"/>
              </a:ext>
            </a:extLst>
          </p:cNvPr>
          <p:cNvSpPr>
            <a:spLocks noGrp="1"/>
          </p:cNvSpPr>
          <p:nvPr>
            <p:ph type="ctrTitle"/>
          </p:nvPr>
        </p:nvSpPr>
        <p:spPr>
          <a:xfrm>
            <a:off x="650056" y="1474996"/>
            <a:ext cx="5522926" cy="2386978"/>
          </a:xfrm>
        </p:spPr>
        <p:txBody>
          <a:bodyPr>
            <a:noAutofit/>
          </a:bodyPr>
          <a:lstStyle/>
          <a:p>
            <a:r>
              <a:rPr lang="en-US" sz="3999" dirty="0"/>
              <a:t>Real-Time Data for AI Agents: Grounding with Event-Driven Architecture</a:t>
            </a:r>
          </a:p>
        </p:txBody>
      </p:sp>
      <p:sp>
        <p:nvSpPr>
          <p:cNvPr id="4" name="TextBox 3">
            <a:extLst>
              <a:ext uri="{FF2B5EF4-FFF2-40B4-BE49-F238E27FC236}">
                <a16:creationId xmlns:a16="http://schemas.microsoft.com/office/drawing/2014/main" id="{6C9FA5C2-9019-5C4D-B218-93F5D13A3617}"/>
              </a:ext>
            </a:extLst>
          </p:cNvPr>
          <p:cNvSpPr txBox="1"/>
          <p:nvPr/>
        </p:nvSpPr>
        <p:spPr>
          <a:xfrm>
            <a:off x="650056" y="4417739"/>
            <a:ext cx="4477624" cy="615393"/>
          </a:xfrm>
          <a:prstGeom prst="rect">
            <a:avLst/>
          </a:prstGeom>
          <a:noFill/>
        </p:spPr>
        <p:txBody>
          <a:bodyPr wrap="none" lIns="0" tIns="0" rIns="0" bIns="0" rtlCol="0">
            <a:spAutoFit/>
          </a:bodyPr>
          <a:lstStyle/>
          <a:p>
            <a:pPr algn="l" fontAlgn="base">
              <a:spcBef>
                <a:spcPct val="50000"/>
              </a:spcBef>
              <a:spcAft>
                <a:spcPct val="0"/>
              </a:spcAft>
              <a:buClr>
                <a:schemeClr val="tx1"/>
              </a:buClr>
              <a:buSzPct val="100000"/>
            </a:pPr>
            <a:r>
              <a:rPr lang="en-US" sz="1600" kern="0" dirty="0">
                <a:solidFill>
                  <a:schemeClr val="bg1"/>
                </a:solidFill>
                <a:latin typeface="Helvetica Neue Light" panose="02000403000000020004" pitchFamily="2" charset="0"/>
                <a:ea typeface="Helvetica Neue Light" panose="02000403000000020004" pitchFamily="2" charset="0"/>
                <a:cs typeface="72 Brand" pitchFamily="34" charset="-128"/>
              </a:rPr>
              <a:t>Gayathri Narayana, Rashmi Kumari, Vinayak Adkoli</a:t>
            </a:r>
          </a:p>
          <a:p>
            <a:pPr algn="l" fontAlgn="base">
              <a:spcBef>
                <a:spcPct val="50000"/>
              </a:spcBef>
              <a:spcAft>
                <a:spcPct val="0"/>
              </a:spcAft>
              <a:buClr>
                <a:schemeClr val="tx1"/>
              </a:buClr>
              <a:buSzPct val="100000"/>
            </a:pPr>
            <a:r>
              <a:rPr lang="en-US" sz="1600" kern="0" dirty="0">
                <a:solidFill>
                  <a:schemeClr val="bg1"/>
                </a:solidFill>
                <a:latin typeface="Helvetica Neue Light" panose="02000403000000020004" pitchFamily="2" charset="0"/>
                <a:ea typeface="Helvetica Neue Light" panose="02000403000000020004" pitchFamily="2" charset="0"/>
                <a:cs typeface="72 Brand" pitchFamily="34" charset="-128"/>
              </a:rPr>
              <a:t>SAP</a:t>
            </a:r>
          </a:p>
        </p:txBody>
      </p:sp>
    </p:spTree>
    <p:extLst>
      <p:ext uri="{BB962C8B-B14F-4D97-AF65-F5344CB8AC3E}">
        <p14:creationId xmlns:p14="http://schemas.microsoft.com/office/powerpoint/2010/main" val="1214999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48C649E-98CF-D34C-3989-92FCBC84EF08}"/>
              </a:ext>
            </a:extLst>
          </p:cNvPr>
          <p:cNvPicPr>
            <a:picLocks noChangeAspect="1"/>
          </p:cNvPicPr>
          <p:nvPr/>
        </p:nvPicPr>
        <p:blipFill>
          <a:blip r:embed="rId2"/>
          <a:srcRect l="29567" t="19899" r="17957" b="3596"/>
          <a:stretch>
            <a:fillRect/>
          </a:stretch>
        </p:blipFill>
        <p:spPr>
          <a:xfrm>
            <a:off x="4180975" y="2695075"/>
            <a:ext cx="4078706" cy="3344779"/>
          </a:xfrm>
          <a:prstGeom prst="rect">
            <a:avLst/>
          </a:prstGeom>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D7727A4-9FD8-AA58-D8F8-4078E9C7E063}"/>
              </a:ext>
            </a:extLst>
          </p:cNvPr>
          <p:cNvPicPr>
            <a:picLocks noChangeAspect="1"/>
          </p:cNvPicPr>
          <p:nvPr/>
        </p:nvPicPr>
        <p:blipFill>
          <a:blip r:embed="rId3"/>
          <a:srcRect l="30909" r="18317"/>
          <a:stretch>
            <a:fillRect/>
          </a:stretch>
        </p:blipFill>
        <p:spPr>
          <a:xfrm>
            <a:off x="7315200" y="320342"/>
            <a:ext cx="3946358" cy="4371975"/>
          </a:xfrm>
          <a:prstGeom prst="rect">
            <a:avLst/>
          </a:prstGeom>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8F0AF162-65CF-8F62-5553-C3639FE3A74D}"/>
              </a:ext>
            </a:extLst>
          </p:cNvPr>
          <p:cNvPicPr>
            <a:picLocks noChangeAspect="1"/>
          </p:cNvPicPr>
          <p:nvPr/>
        </p:nvPicPr>
        <p:blipFill>
          <a:blip r:embed="rId4"/>
          <a:srcRect l="23066" t="28070" r="15480" b="826"/>
          <a:stretch>
            <a:fillRect/>
          </a:stretch>
        </p:blipFill>
        <p:spPr>
          <a:xfrm>
            <a:off x="348918" y="151900"/>
            <a:ext cx="4776537" cy="3108658"/>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20216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62A8AA-4615-3B18-8847-2EDD2BD3C781}"/>
              </a:ext>
            </a:extLst>
          </p:cNvPr>
          <p:cNvPicPr>
            <a:picLocks noChangeAspect="1"/>
          </p:cNvPicPr>
          <p:nvPr/>
        </p:nvPicPr>
        <p:blipFill>
          <a:blip r:embed="rId2"/>
          <a:stretch>
            <a:fillRect/>
          </a:stretch>
        </p:blipFill>
        <p:spPr>
          <a:xfrm>
            <a:off x="243234" y="0"/>
            <a:ext cx="3378271" cy="2235227"/>
          </a:xfrm>
          <a:prstGeom prst="rect">
            <a:avLst/>
          </a:prstGeom>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3B7C1387-CB10-9562-AAC0-55E21999CE7F}"/>
              </a:ext>
            </a:extLst>
          </p:cNvPr>
          <p:cNvPicPr>
            <a:picLocks noChangeAspect="1"/>
          </p:cNvPicPr>
          <p:nvPr/>
        </p:nvPicPr>
        <p:blipFill>
          <a:blip r:embed="rId3"/>
          <a:stretch>
            <a:fillRect/>
          </a:stretch>
        </p:blipFill>
        <p:spPr>
          <a:xfrm>
            <a:off x="243233" y="3091841"/>
            <a:ext cx="3378271" cy="2418624"/>
          </a:xfrm>
          <a:prstGeom prst="rect">
            <a:avLst/>
          </a:prstGeom>
          <a:effectLst>
            <a:outerShdw blurRad="50800" dist="38100" dir="8100000" algn="tr" rotWithShape="0">
              <a:prstClr val="black">
                <a:alpha val="40000"/>
              </a:prstClr>
            </a:outerShdw>
          </a:effectLst>
        </p:spPr>
      </p:pic>
      <p:pic>
        <p:nvPicPr>
          <p:cNvPr id="1028" name="Picture 4">
            <a:extLst>
              <a:ext uri="{FF2B5EF4-FFF2-40B4-BE49-F238E27FC236}">
                <a16:creationId xmlns:a16="http://schemas.microsoft.com/office/drawing/2014/main" id="{42B0223B-87F3-BD4B-8482-48A3871A92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442" t="3918" r="3211" b="25025"/>
          <a:stretch>
            <a:fillRect/>
          </a:stretch>
        </p:blipFill>
        <p:spPr bwMode="auto">
          <a:xfrm>
            <a:off x="4208343" y="820811"/>
            <a:ext cx="5727031" cy="2713873"/>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Pic 22-4">
            <a:extLst>
              <a:ext uri="{FF2B5EF4-FFF2-40B4-BE49-F238E27FC236}">
                <a16:creationId xmlns:a16="http://schemas.microsoft.com/office/drawing/2014/main" id="{7797B483-67AA-9DBC-DDC2-0567786B72C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435" t="6086" b="22939"/>
          <a:stretch>
            <a:fillRect/>
          </a:stretch>
        </p:blipFill>
        <p:spPr bwMode="auto">
          <a:xfrm>
            <a:off x="7678749" y="2581912"/>
            <a:ext cx="4513251" cy="2081465"/>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238C3BC-FD7C-3A85-A1C3-7B9862B7E8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503" y="203976"/>
            <a:ext cx="6789821" cy="1445490"/>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7F567FBC-FF57-7C4C-DB47-E29DB05C63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7503" y="4663377"/>
            <a:ext cx="8570496" cy="1433996"/>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41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C11F2-6386-634B-43B4-D6977A03B78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99B46718-00DB-6E3A-D9A9-F9F31F372C4F}"/>
              </a:ext>
            </a:extLst>
          </p:cNvPr>
          <p:cNvSpPr/>
          <p:nvPr/>
        </p:nvSpPr>
        <p:spPr>
          <a:xfrm>
            <a:off x="3297985" y="313895"/>
            <a:ext cx="7174545" cy="5745961"/>
          </a:xfrm>
          <a:prstGeom prst="roundRect">
            <a:avLst>
              <a:gd name="adj" fmla="val 3112"/>
            </a:avLst>
          </a:prstGeom>
          <a:solidFill>
            <a:schemeClr val="bg1"/>
          </a:solidFill>
          <a:ln w="1270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DE" sz="700" b="1">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ounded Rectangle 5">
            <a:extLst>
              <a:ext uri="{FF2B5EF4-FFF2-40B4-BE49-F238E27FC236}">
                <a16:creationId xmlns:a16="http://schemas.microsoft.com/office/drawing/2014/main" id="{BB0BC106-217D-2149-8C41-A8B76CAC2651}"/>
              </a:ext>
            </a:extLst>
          </p:cNvPr>
          <p:cNvSpPr/>
          <p:nvPr/>
        </p:nvSpPr>
        <p:spPr>
          <a:xfrm>
            <a:off x="3483971" y="784185"/>
            <a:ext cx="6798261" cy="3890251"/>
          </a:xfrm>
          <a:prstGeom prst="roundRect">
            <a:avLst>
              <a:gd name="adj" fmla="val 3984"/>
            </a:avLst>
          </a:prstGeom>
          <a:solidFill>
            <a:schemeClr val="bg1"/>
          </a:solidFill>
          <a:ln w="1270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7" name="Group 6">
            <a:extLst>
              <a:ext uri="{FF2B5EF4-FFF2-40B4-BE49-F238E27FC236}">
                <a16:creationId xmlns:a16="http://schemas.microsoft.com/office/drawing/2014/main" id="{E15DEB2E-5BF8-BF68-5AD2-2C5D7534B0F9}"/>
              </a:ext>
            </a:extLst>
          </p:cNvPr>
          <p:cNvGrpSpPr/>
          <p:nvPr/>
        </p:nvGrpSpPr>
        <p:grpSpPr>
          <a:xfrm>
            <a:off x="6984860" y="3755312"/>
            <a:ext cx="856622" cy="832474"/>
            <a:chOff x="7425085" y="4935566"/>
            <a:chExt cx="856845" cy="832691"/>
          </a:xfrm>
        </p:grpSpPr>
        <p:pic>
          <p:nvPicPr>
            <p:cNvPr id="8" name="Graphic 7">
              <a:extLst>
                <a:ext uri="{FF2B5EF4-FFF2-40B4-BE49-F238E27FC236}">
                  <a16:creationId xmlns:a16="http://schemas.microsoft.com/office/drawing/2014/main" id="{2A400BF4-01AD-F3F3-B122-58334A7FA6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60057" y="4935566"/>
              <a:ext cx="519286" cy="519286"/>
            </a:xfrm>
            <a:prstGeom prst="rect">
              <a:avLst/>
            </a:prstGeom>
          </p:spPr>
        </p:pic>
        <p:sp>
          <p:nvSpPr>
            <p:cNvPr id="9" name="Text 26">
              <a:extLst>
                <a:ext uri="{FF2B5EF4-FFF2-40B4-BE49-F238E27FC236}">
                  <a16:creationId xmlns:a16="http://schemas.microsoft.com/office/drawing/2014/main" id="{7B441083-6E4C-4EB0-2A77-F4620F59A43B}"/>
                </a:ext>
              </a:extLst>
            </p:cNvPr>
            <p:cNvSpPr/>
            <p:nvPr/>
          </p:nvSpPr>
          <p:spPr>
            <a:xfrm>
              <a:off x="7425085" y="5535004"/>
              <a:ext cx="856845" cy="233253"/>
            </a:xfrm>
            <a:prstGeom prst="rect">
              <a:avLst/>
            </a:prstGeom>
            <a:noFill/>
            <a:ln/>
          </p:spPr>
          <p:txBody>
            <a:bodyPr wrap="square" lIns="0" tIns="0" rIns="0" bIns="0" rtlCol="0" anchor="t"/>
            <a:lstStyle/>
            <a:p>
              <a:pPr algn="ctr">
                <a:lnSpc>
                  <a:spcPts val="1100"/>
                </a:lnSpc>
              </a:pPr>
              <a:r>
                <a:rPr lang="en-US" sz="9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HANA</a:t>
              </a:r>
            </a:p>
            <a:p>
              <a:pPr algn="ctr">
                <a:lnSpc>
                  <a:spcPts val="1100"/>
                </a:lnSpc>
              </a:pPr>
              <a:r>
                <a:rPr lang="en-US" sz="9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Cloud</a:t>
              </a:r>
            </a:p>
          </p:txBody>
        </p:sp>
      </p:grpSp>
      <p:grpSp>
        <p:nvGrpSpPr>
          <p:cNvPr id="2" name="Group 1">
            <a:extLst>
              <a:ext uri="{FF2B5EF4-FFF2-40B4-BE49-F238E27FC236}">
                <a16:creationId xmlns:a16="http://schemas.microsoft.com/office/drawing/2014/main" id="{27148355-8133-BB25-D436-776B37F1B5A9}"/>
              </a:ext>
            </a:extLst>
          </p:cNvPr>
          <p:cNvGrpSpPr/>
          <p:nvPr/>
        </p:nvGrpSpPr>
        <p:grpSpPr>
          <a:xfrm>
            <a:off x="584289" y="666376"/>
            <a:ext cx="1848416" cy="1982409"/>
            <a:chOff x="505598" y="1229328"/>
            <a:chExt cx="1848897" cy="1982925"/>
          </a:xfrm>
        </p:grpSpPr>
        <p:grpSp>
          <p:nvGrpSpPr>
            <p:cNvPr id="10" name="Group 9">
              <a:extLst>
                <a:ext uri="{FF2B5EF4-FFF2-40B4-BE49-F238E27FC236}">
                  <a16:creationId xmlns:a16="http://schemas.microsoft.com/office/drawing/2014/main" id="{0CF85BC0-AE76-F1BF-C039-A3B85A04C774}"/>
                </a:ext>
              </a:extLst>
            </p:cNvPr>
            <p:cNvGrpSpPr/>
            <p:nvPr/>
          </p:nvGrpSpPr>
          <p:grpSpPr>
            <a:xfrm>
              <a:off x="505598" y="1229328"/>
              <a:ext cx="1848897" cy="1982925"/>
              <a:chOff x="8607607" y="2808702"/>
              <a:chExt cx="1848897" cy="1982925"/>
            </a:xfrm>
          </p:grpSpPr>
          <p:sp>
            <p:nvSpPr>
              <p:cNvPr id="11" name="Rounded Rectangle 10">
                <a:extLst>
                  <a:ext uri="{FF2B5EF4-FFF2-40B4-BE49-F238E27FC236}">
                    <a16:creationId xmlns:a16="http://schemas.microsoft.com/office/drawing/2014/main" id="{E4444818-2FD4-3028-E908-2F8D434EBDF3}"/>
                  </a:ext>
                </a:extLst>
              </p:cNvPr>
              <p:cNvSpPr/>
              <p:nvPr/>
            </p:nvSpPr>
            <p:spPr>
              <a:xfrm>
                <a:off x="8607607" y="2808702"/>
                <a:ext cx="1848897" cy="1982925"/>
              </a:xfrm>
              <a:prstGeom prst="roundRect">
                <a:avLst>
                  <a:gd name="adj" fmla="val 4843"/>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DE" sz="1100"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Text 26">
                <a:extLst>
                  <a:ext uri="{FF2B5EF4-FFF2-40B4-BE49-F238E27FC236}">
                    <a16:creationId xmlns:a16="http://schemas.microsoft.com/office/drawing/2014/main" id="{DFC55046-F3E1-7FE6-EDC4-5D0743E05ECA}"/>
                  </a:ext>
                </a:extLst>
              </p:cNvPr>
              <p:cNvSpPr/>
              <p:nvPr/>
            </p:nvSpPr>
            <p:spPr>
              <a:xfrm>
                <a:off x="9242099" y="2943627"/>
                <a:ext cx="1016428" cy="304597"/>
              </a:xfrm>
              <a:prstGeom prst="rect">
                <a:avLst/>
              </a:prstGeom>
              <a:noFill/>
              <a:ln/>
            </p:spPr>
            <p:txBody>
              <a:bodyPr wrap="square" lIns="0" tIns="0" rIns="0" bIns="0" rtlCol="0" anchor="t"/>
              <a:lstStyle/>
              <a:p>
                <a:pPr>
                  <a:lnSpc>
                    <a:spcPts val="1100"/>
                  </a:lnSpc>
                </a:pPr>
                <a:r>
                  <a:rPr lang="en-US" sz="11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SAP Cloud</a:t>
                </a:r>
              </a:p>
              <a:p>
                <a:pPr>
                  <a:lnSpc>
                    <a:spcPts val="1100"/>
                  </a:lnSpc>
                </a:pPr>
                <a:r>
                  <a:rPr lang="en-US" sz="11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Solutions</a:t>
                </a:r>
              </a:p>
            </p:txBody>
          </p:sp>
          <p:pic>
            <p:nvPicPr>
              <p:cNvPr id="13" name="Graphic 12">
                <a:extLst>
                  <a:ext uri="{FF2B5EF4-FFF2-40B4-BE49-F238E27FC236}">
                    <a16:creationId xmlns:a16="http://schemas.microsoft.com/office/drawing/2014/main" id="{E761654B-BC7F-D21E-2282-0A299E3AF5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40730" y="2968080"/>
                <a:ext cx="368246" cy="234728"/>
              </a:xfrm>
              <a:prstGeom prst="rect">
                <a:avLst/>
              </a:prstGeom>
            </p:spPr>
          </p:pic>
        </p:grpSp>
        <p:sp>
          <p:nvSpPr>
            <p:cNvPr id="14" name="Rounded Rectangle 13">
              <a:extLst>
                <a:ext uri="{FF2B5EF4-FFF2-40B4-BE49-F238E27FC236}">
                  <a16:creationId xmlns:a16="http://schemas.microsoft.com/office/drawing/2014/main" id="{9A7EF190-FC36-2BFC-C9F9-654E429196F7}"/>
                </a:ext>
              </a:extLst>
            </p:cNvPr>
            <p:cNvSpPr/>
            <p:nvPr/>
          </p:nvSpPr>
          <p:spPr>
            <a:xfrm>
              <a:off x="702707" y="1838728"/>
              <a:ext cx="1453811" cy="49260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 name="Rounded Rectangle 14">
              <a:extLst>
                <a:ext uri="{FF2B5EF4-FFF2-40B4-BE49-F238E27FC236}">
                  <a16:creationId xmlns:a16="http://schemas.microsoft.com/office/drawing/2014/main" id="{B3646FBD-8E06-010A-45FA-4D203F9E149E}"/>
                </a:ext>
              </a:extLst>
            </p:cNvPr>
            <p:cNvSpPr/>
            <p:nvPr/>
          </p:nvSpPr>
          <p:spPr>
            <a:xfrm>
              <a:off x="712197" y="2553761"/>
              <a:ext cx="1453811" cy="49260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 26">
              <a:extLst>
                <a:ext uri="{FF2B5EF4-FFF2-40B4-BE49-F238E27FC236}">
                  <a16:creationId xmlns:a16="http://schemas.microsoft.com/office/drawing/2014/main" id="{9FA7D522-0A4E-AA6E-2317-B85B095E251C}"/>
                </a:ext>
              </a:extLst>
            </p:cNvPr>
            <p:cNvSpPr/>
            <p:nvPr/>
          </p:nvSpPr>
          <p:spPr>
            <a:xfrm>
              <a:off x="721687" y="1915153"/>
              <a:ext cx="1434831" cy="195726"/>
            </a:xfrm>
            <a:prstGeom prst="rect">
              <a:avLst/>
            </a:prstGeom>
            <a:noFill/>
            <a:ln/>
          </p:spPr>
          <p:txBody>
            <a:bodyPr wrap="square" lIns="0" tIns="0" rIns="0" bIns="0" rtlCol="0" anchor="ctr"/>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S/4HANA Cloud</a:t>
              </a:r>
            </a:p>
          </p:txBody>
        </p:sp>
        <p:sp>
          <p:nvSpPr>
            <p:cNvPr id="17" name="Text 29">
              <a:extLst>
                <a:ext uri="{FF2B5EF4-FFF2-40B4-BE49-F238E27FC236}">
                  <a16:creationId xmlns:a16="http://schemas.microsoft.com/office/drawing/2014/main" id="{886D4018-2DA6-FF1C-19B1-77303FE581B2}"/>
                </a:ext>
              </a:extLst>
            </p:cNvPr>
            <p:cNvSpPr/>
            <p:nvPr/>
          </p:nvSpPr>
          <p:spPr>
            <a:xfrm>
              <a:off x="712198" y="2122606"/>
              <a:ext cx="1446700" cy="220455"/>
            </a:xfrm>
            <a:prstGeom prst="rect">
              <a:avLst/>
            </a:prstGeom>
            <a:noFill/>
            <a:ln/>
          </p:spPr>
          <p:txBody>
            <a:bodyPr wrap="square" lIns="0" tIns="0" rIns="0" bIns="0" rtlCol="0" anchor="t"/>
            <a:lstStyle/>
            <a:p>
              <a:pPr algn="ctr">
                <a:lnSpc>
                  <a:spcPts val="1100"/>
                </a:lnSpc>
              </a:pPr>
              <a:r>
                <a:rPr lang="en-US" sz="8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Create sales order</a:t>
              </a:r>
            </a:p>
          </p:txBody>
        </p:sp>
        <p:sp>
          <p:nvSpPr>
            <p:cNvPr id="18" name="Text 26">
              <a:extLst>
                <a:ext uri="{FF2B5EF4-FFF2-40B4-BE49-F238E27FC236}">
                  <a16:creationId xmlns:a16="http://schemas.microsoft.com/office/drawing/2014/main" id="{CC1C71AE-C691-3E75-7772-1B054A518C9A}"/>
                </a:ext>
              </a:extLst>
            </p:cNvPr>
            <p:cNvSpPr/>
            <p:nvPr/>
          </p:nvSpPr>
          <p:spPr>
            <a:xfrm>
              <a:off x="721687" y="2636849"/>
              <a:ext cx="1444321" cy="278222"/>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Service Cloud V2</a:t>
              </a:r>
            </a:p>
          </p:txBody>
        </p:sp>
        <p:sp>
          <p:nvSpPr>
            <p:cNvPr id="19" name="Text 29">
              <a:extLst>
                <a:ext uri="{FF2B5EF4-FFF2-40B4-BE49-F238E27FC236}">
                  <a16:creationId xmlns:a16="http://schemas.microsoft.com/office/drawing/2014/main" id="{4F018C66-F8BC-1396-D027-650C3B2BE4F0}"/>
                </a:ext>
              </a:extLst>
            </p:cNvPr>
            <p:cNvSpPr/>
            <p:nvPr/>
          </p:nvSpPr>
          <p:spPr>
            <a:xfrm>
              <a:off x="721688" y="2830506"/>
              <a:ext cx="1446700" cy="220455"/>
            </a:xfrm>
            <a:prstGeom prst="rect">
              <a:avLst/>
            </a:prstGeom>
            <a:noFill/>
            <a:ln/>
          </p:spPr>
          <p:txBody>
            <a:bodyPr wrap="square" lIns="0" tIns="0" rIns="0" bIns="0" rtlCol="0" anchor="t"/>
            <a:lstStyle/>
            <a:p>
              <a:pPr algn="ctr">
                <a:lnSpc>
                  <a:spcPts val="1100"/>
                </a:lnSpc>
              </a:pPr>
              <a:r>
                <a:rPr lang="en-US" sz="8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Create support case</a:t>
              </a:r>
            </a:p>
          </p:txBody>
        </p:sp>
      </p:grpSp>
      <p:pic>
        <p:nvPicPr>
          <p:cNvPr id="20" name="Graphic 19">
            <a:extLst>
              <a:ext uri="{FF2B5EF4-FFF2-40B4-BE49-F238E27FC236}">
                <a16:creationId xmlns:a16="http://schemas.microsoft.com/office/drawing/2014/main" id="{76A59258-8DC4-7B67-B719-FE9F40F0E5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42672" y="456542"/>
            <a:ext cx="551653" cy="153237"/>
          </a:xfrm>
          <a:prstGeom prst="rect">
            <a:avLst/>
          </a:prstGeom>
        </p:spPr>
      </p:pic>
      <p:grpSp>
        <p:nvGrpSpPr>
          <p:cNvPr id="21" name="Group 20">
            <a:extLst>
              <a:ext uri="{FF2B5EF4-FFF2-40B4-BE49-F238E27FC236}">
                <a16:creationId xmlns:a16="http://schemas.microsoft.com/office/drawing/2014/main" id="{46E5CF68-0954-5E5F-C47C-3E05422D4659}"/>
              </a:ext>
            </a:extLst>
          </p:cNvPr>
          <p:cNvGrpSpPr/>
          <p:nvPr/>
        </p:nvGrpSpPr>
        <p:grpSpPr>
          <a:xfrm>
            <a:off x="3498814" y="1308779"/>
            <a:ext cx="1022475" cy="824836"/>
            <a:chOff x="3265623" y="1126223"/>
            <a:chExt cx="1022741" cy="825051"/>
          </a:xfrm>
        </p:grpSpPr>
        <p:pic>
          <p:nvPicPr>
            <p:cNvPr id="22" name="Graphic 21">
              <a:extLst>
                <a:ext uri="{FF2B5EF4-FFF2-40B4-BE49-F238E27FC236}">
                  <a16:creationId xmlns:a16="http://schemas.microsoft.com/office/drawing/2014/main" id="{4E0C6DB7-7658-E3DF-483B-8DBBD8F7E5B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32207" y="1126223"/>
              <a:ext cx="417600" cy="417600"/>
            </a:xfrm>
            <a:prstGeom prst="rect">
              <a:avLst/>
            </a:prstGeom>
          </p:spPr>
        </p:pic>
        <p:sp>
          <p:nvSpPr>
            <p:cNvPr id="23" name="Text 26">
              <a:extLst>
                <a:ext uri="{FF2B5EF4-FFF2-40B4-BE49-F238E27FC236}">
                  <a16:creationId xmlns:a16="http://schemas.microsoft.com/office/drawing/2014/main" id="{3FBF9D08-D337-4631-8F47-00ADB2707891}"/>
                </a:ext>
              </a:extLst>
            </p:cNvPr>
            <p:cNvSpPr/>
            <p:nvPr/>
          </p:nvSpPr>
          <p:spPr>
            <a:xfrm>
              <a:off x="3265623" y="1574732"/>
              <a:ext cx="1022741" cy="376542"/>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Integration Suite, advanced</a:t>
              </a:r>
            </a:p>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event mesh</a:t>
              </a:r>
            </a:p>
          </p:txBody>
        </p:sp>
      </p:grpSp>
      <p:cxnSp>
        <p:nvCxnSpPr>
          <p:cNvPr id="25" name="Elbow Connector 24">
            <a:extLst>
              <a:ext uri="{FF2B5EF4-FFF2-40B4-BE49-F238E27FC236}">
                <a16:creationId xmlns:a16="http://schemas.microsoft.com/office/drawing/2014/main" id="{530DE958-D2EF-F942-578B-FC3307A84934}"/>
              </a:ext>
            </a:extLst>
          </p:cNvPr>
          <p:cNvCxnSpPr>
            <a:cxnSpLocks/>
            <a:stCxn id="15" idx="3"/>
            <a:endCxn id="22" idx="1"/>
          </p:cNvCxnSpPr>
          <p:nvPr/>
        </p:nvCxnSpPr>
        <p:spPr>
          <a:xfrm flipV="1">
            <a:off x="2244267" y="1517524"/>
            <a:ext cx="1521062" cy="719179"/>
          </a:xfrm>
          <a:prstGeom prst="bentConnector3">
            <a:avLst>
              <a:gd name="adj1" fmla="val 63222"/>
            </a:avLst>
          </a:prstGeom>
          <a:ln w="19050" cap="rnd">
            <a:solidFill>
              <a:srgbClr val="0C70E4"/>
            </a:solidFill>
            <a:miter lim="800000"/>
            <a:headEnd w="sm" len="sm"/>
            <a:tailEnd type="triangle" w="sm" len="med"/>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3E80EDE1-C73F-6599-88AE-2DC81ADB01F8}"/>
              </a:ext>
            </a:extLst>
          </p:cNvPr>
          <p:cNvSpPr/>
          <p:nvPr/>
        </p:nvSpPr>
        <p:spPr>
          <a:xfrm>
            <a:off x="2555325" y="2112827"/>
            <a:ext cx="563585" cy="239057"/>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Publish Event</a:t>
            </a:r>
            <a:endParaRPr lang="en-DE" sz="12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24" name="Straight Arrow Connector 23">
            <a:extLst>
              <a:ext uri="{FF2B5EF4-FFF2-40B4-BE49-F238E27FC236}">
                <a16:creationId xmlns:a16="http://schemas.microsoft.com/office/drawing/2014/main" id="{40DBADEC-1283-8A37-7DC5-7C21D82ABD2D}"/>
              </a:ext>
            </a:extLst>
          </p:cNvPr>
          <p:cNvCxnSpPr>
            <a:cxnSpLocks/>
            <a:stCxn id="14" idx="3"/>
            <a:endCxn id="22" idx="1"/>
          </p:cNvCxnSpPr>
          <p:nvPr/>
        </p:nvCxnSpPr>
        <p:spPr>
          <a:xfrm flipV="1">
            <a:off x="2234779" y="1517524"/>
            <a:ext cx="1530549" cy="4332"/>
          </a:xfrm>
          <a:prstGeom prst="straightConnector1">
            <a:avLst/>
          </a:prstGeom>
          <a:ln w="19050">
            <a:solidFill>
              <a:srgbClr val="0C70E4"/>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D24A51-E990-9C77-213B-4D5DD4893F3D}"/>
              </a:ext>
            </a:extLst>
          </p:cNvPr>
          <p:cNvCxnSpPr>
            <a:cxnSpLocks/>
            <a:stCxn id="34" idx="3"/>
            <a:endCxn id="38" idx="1"/>
          </p:cNvCxnSpPr>
          <p:nvPr/>
        </p:nvCxnSpPr>
        <p:spPr>
          <a:xfrm flipV="1">
            <a:off x="1137421" y="3626578"/>
            <a:ext cx="579749" cy="5338"/>
          </a:xfrm>
          <a:prstGeom prst="straightConnector1">
            <a:avLst/>
          </a:prstGeom>
          <a:ln w="19050">
            <a:solidFill>
              <a:srgbClr val="CC00DC"/>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nvGrpSpPr>
          <p:cNvPr id="128" name="Group 127">
            <a:extLst>
              <a:ext uri="{FF2B5EF4-FFF2-40B4-BE49-F238E27FC236}">
                <a16:creationId xmlns:a16="http://schemas.microsoft.com/office/drawing/2014/main" id="{279A31EE-48E2-3F6D-59AD-42B266120386}"/>
              </a:ext>
            </a:extLst>
          </p:cNvPr>
          <p:cNvGrpSpPr/>
          <p:nvPr/>
        </p:nvGrpSpPr>
        <p:grpSpPr>
          <a:xfrm>
            <a:off x="504218" y="3423170"/>
            <a:ext cx="835528" cy="646673"/>
            <a:chOff x="425506" y="3986840"/>
            <a:chExt cx="835746" cy="646841"/>
          </a:xfrm>
        </p:grpSpPr>
        <p:sp>
          <p:nvSpPr>
            <p:cNvPr id="31" name="Text 26">
              <a:extLst>
                <a:ext uri="{FF2B5EF4-FFF2-40B4-BE49-F238E27FC236}">
                  <a16:creationId xmlns:a16="http://schemas.microsoft.com/office/drawing/2014/main" id="{12CD91F2-DD29-5401-542B-9F44355E1849}"/>
                </a:ext>
              </a:extLst>
            </p:cNvPr>
            <p:cNvSpPr/>
            <p:nvPr/>
          </p:nvSpPr>
          <p:spPr>
            <a:xfrm>
              <a:off x="425506" y="4492225"/>
              <a:ext cx="835746" cy="141456"/>
            </a:xfrm>
            <a:prstGeom prst="rect">
              <a:avLst/>
            </a:prstGeom>
            <a:noFill/>
            <a:ln/>
          </p:spPr>
          <p:txBody>
            <a:bodyPr wrap="square" lIns="0" tIns="0" rIns="0" bIns="0" rtlCol="0" anchor="t"/>
            <a:lstStyle/>
            <a:p>
              <a:pPr algn="ctr">
                <a:lnSpc>
                  <a:spcPts val="1100"/>
                </a:lnSpc>
              </a:pPr>
              <a:r>
                <a:rPr lang="en-US" sz="10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Customer Success Manager</a:t>
              </a:r>
            </a:p>
          </p:txBody>
        </p:sp>
        <p:pic>
          <p:nvPicPr>
            <p:cNvPr id="34" name="Graphic 33">
              <a:extLst>
                <a:ext uri="{FF2B5EF4-FFF2-40B4-BE49-F238E27FC236}">
                  <a16:creationId xmlns:a16="http://schemas.microsoft.com/office/drawing/2014/main" id="{DBDE7AFB-7BD5-16D9-9053-8AE9929EAD7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1274" y="3986840"/>
              <a:ext cx="417600" cy="417600"/>
            </a:xfrm>
            <a:prstGeom prst="rect">
              <a:avLst/>
            </a:prstGeom>
          </p:spPr>
        </p:pic>
      </p:grpSp>
      <p:grpSp>
        <p:nvGrpSpPr>
          <p:cNvPr id="129" name="Group 128">
            <a:extLst>
              <a:ext uri="{FF2B5EF4-FFF2-40B4-BE49-F238E27FC236}">
                <a16:creationId xmlns:a16="http://schemas.microsoft.com/office/drawing/2014/main" id="{9155F8AD-C179-D0A3-55B7-628EC2FA31A1}"/>
              </a:ext>
            </a:extLst>
          </p:cNvPr>
          <p:cNvGrpSpPr/>
          <p:nvPr/>
        </p:nvGrpSpPr>
        <p:grpSpPr>
          <a:xfrm>
            <a:off x="1319645" y="3338653"/>
            <a:ext cx="1370900" cy="1006674"/>
            <a:chOff x="1241145" y="3902301"/>
            <a:chExt cx="1371257" cy="1006936"/>
          </a:xfrm>
        </p:grpSpPr>
        <p:sp>
          <p:nvSpPr>
            <p:cNvPr id="30" name="Text 26">
              <a:extLst>
                <a:ext uri="{FF2B5EF4-FFF2-40B4-BE49-F238E27FC236}">
                  <a16:creationId xmlns:a16="http://schemas.microsoft.com/office/drawing/2014/main" id="{2E664039-8EA1-2F8A-FF1A-63BBA488F9C2}"/>
                </a:ext>
              </a:extLst>
            </p:cNvPr>
            <p:cNvSpPr/>
            <p:nvPr/>
          </p:nvSpPr>
          <p:spPr>
            <a:xfrm>
              <a:off x="1241145" y="4464742"/>
              <a:ext cx="1371257" cy="218017"/>
            </a:xfrm>
            <a:prstGeom prst="rect">
              <a:avLst/>
            </a:prstGeom>
            <a:solidFill>
              <a:schemeClr val="bg1"/>
            </a:solidFill>
            <a:ln/>
          </p:spPr>
          <p:txBody>
            <a:bodyPr wrap="square" lIns="0" tIns="0" rIns="0" bIns="0" rtlCol="0" anchor="t"/>
            <a:lstStyle/>
            <a:p>
              <a:pPr algn="ctr">
                <a:lnSpc>
                  <a:spcPts val="1100"/>
                </a:lnSpc>
              </a:pPr>
              <a:r>
                <a:rPr lang="en-US" sz="11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Joule Application Client</a:t>
              </a:r>
            </a:p>
          </p:txBody>
        </p:sp>
        <p:sp>
          <p:nvSpPr>
            <p:cNvPr id="33" name="Text 32">
              <a:extLst>
                <a:ext uri="{FF2B5EF4-FFF2-40B4-BE49-F238E27FC236}">
                  <a16:creationId xmlns:a16="http://schemas.microsoft.com/office/drawing/2014/main" id="{EDC9EA0F-0212-4641-A78D-B2DBCF055660}"/>
                </a:ext>
              </a:extLst>
            </p:cNvPr>
            <p:cNvSpPr/>
            <p:nvPr/>
          </p:nvSpPr>
          <p:spPr>
            <a:xfrm>
              <a:off x="1439102" y="4769537"/>
              <a:ext cx="855285" cy="139700"/>
            </a:xfrm>
            <a:prstGeom prst="rect">
              <a:avLst/>
            </a:prstGeom>
            <a:noFill/>
            <a:ln/>
          </p:spPr>
          <p:txBody>
            <a:bodyPr wrap="square" lIns="0" tIns="0" rIns="0" bIns="0" rtlCol="0" anchor="t"/>
            <a:lstStyle/>
            <a:p>
              <a:pPr algn="ctr"/>
              <a:r>
                <a:rPr lang="en-US" sz="700" dirty="0">
                  <a:solidFill>
                    <a:srgbClr val="5B738B">
                      <a:alpha val="100000"/>
                    </a:srgbClr>
                  </a:solidFill>
                  <a:latin typeface="Helvetica Neue" panose="02000503000000020004" pitchFamily="2" charset="0"/>
                  <a:ea typeface="Helvetica Neue" panose="02000503000000020004" pitchFamily="2" charset="0"/>
                  <a:cs typeface="Helvetica Neue" panose="02000503000000020004" pitchFamily="2" charset="0"/>
                </a:rPr>
                <a:t>Mobile or Desktop</a:t>
              </a:r>
              <a:endParaRPr lang="en-US" sz="7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38" name="Picture 2">
              <a:extLst>
                <a:ext uri="{FF2B5EF4-FFF2-40B4-BE49-F238E27FC236}">
                  <a16:creationId xmlns:a16="http://schemas.microsoft.com/office/drawing/2014/main" id="{984E3F84-EAC5-9298-21B6-0CD2FCC46EF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8774" y="3902301"/>
              <a:ext cx="576000" cy="576000"/>
            </a:xfrm>
            <a:prstGeom prst="rect">
              <a:avLst/>
            </a:prstGeom>
            <a:gradFill>
              <a:gsLst>
                <a:gs pos="0">
                  <a:srgbClr val="5B738B"/>
                </a:gs>
                <a:gs pos="50000">
                  <a:srgbClr val="3E5469"/>
                </a:gs>
                <a:gs pos="100000">
                  <a:srgbClr val="223548"/>
                </a:gs>
              </a:gsLst>
              <a:lin ang="5400000" scaled="1"/>
            </a:gradFill>
            <a:ln w="24093" cap="flat">
              <a:noFill/>
              <a:prstDash val="solid"/>
              <a:miter/>
            </a:ln>
          </p:spPr>
        </p:pic>
      </p:grpSp>
      <p:cxnSp>
        <p:nvCxnSpPr>
          <p:cNvPr id="53" name="Straight Arrow Connector 52">
            <a:extLst>
              <a:ext uri="{FF2B5EF4-FFF2-40B4-BE49-F238E27FC236}">
                <a16:creationId xmlns:a16="http://schemas.microsoft.com/office/drawing/2014/main" id="{9FBFBB71-579E-D182-D432-D54A4A7D54A9}"/>
              </a:ext>
            </a:extLst>
          </p:cNvPr>
          <p:cNvCxnSpPr>
            <a:cxnSpLocks/>
            <a:stCxn id="38" idx="3"/>
            <a:endCxn id="40" idx="1"/>
          </p:cNvCxnSpPr>
          <p:nvPr/>
        </p:nvCxnSpPr>
        <p:spPr>
          <a:xfrm>
            <a:off x="2293020" y="3626578"/>
            <a:ext cx="1654869" cy="0"/>
          </a:xfrm>
          <a:prstGeom prst="straightConnector1">
            <a:avLst/>
          </a:prstGeom>
          <a:ln w="19050">
            <a:solidFill>
              <a:srgbClr val="CC00DC"/>
            </a:solidFill>
            <a:headEnd w="sm" len="sm"/>
            <a:tailEnd type="triangle" w="sm" len="med"/>
          </a:ln>
        </p:spPr>
        <p:style>
          <a:lnRef idx="1">
            <a:schemeClr val="accent1"/>
          </a:lnRef>
          <a:fillRef idx="0">
            <a:schemeClr val="accent1"/>
          </a:fillRef>
          <a:effectRef idx="0">
            <a:schemeClr val="accent1"/>
          </a:effectRef>
          <a:fontRef idx="minor">
            <a:schemeClr val="tx1"/>
          </a:fontRef>
        </p:style>
      </p:cxnSp>
      <p:sp>
        <p:nvSpPr>
          <p:cNvPr id="54" name="Rounded Rectangle 53">
            <a:extLst>
              <a:ext uri="{FF2B5EF4-FFF2-40B4-BE49-F238E27FC236}">
                <a16:creationId xmlns:a16="http://schemas.microsoft.com/office/drawing/2014/main" id="{6A86161D-2B1F-1B73-A926-2D0E2C609D43}"/>
              </a:ext>
            </a:extLst>
          </p:cNvPr>
          <p:cNvSpPr/>
          <p:nvPr/>
        </p:nvSpPr>
        <p:spPr>
          <a:xfrm>
            <a:off x="2560920" y="3499059"/>
            <a:ext cx="563585" cy="239057"/>
          </a:xfrm>
          <a:prstGeom prst="roundRect">
            <a:avLst>
              <a:gd name="adj" fmla="val 50000"/>
            </a:avLst>
          </a:prstGeom>
          <a:solidFill>
            <a:schemeClr val="bg1">
              <a:lumMod val="9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Prompt</a:t>
            </a: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29" name="Group 28">
            <a:extLst>
              <a:ext uri="{FF2B5EF4-FFF2-40B4-BE49-F238E27FC236}">
                <a16:creationId xmlns:a16="http://schemas.microsoft.com/office/drawing/2014/main" id="{AA0493AF-71F0-F7D2-2E3B-862D69D5B9C9}"/>
              </a:ext>
            </a:extLst>
          </p:cNvPr>
          <p:cNvGrpSpPr/>
          <p:nvPr/>
        </p:nvGrpSpPr>
        <p:grpSpPr>
          <a:xfrm>
            <a:off x="3947889" y="2664757"/>
            <a:ext cx="1799959" cy="1923642"/>
            <a:chOff x="3870074" y="3228229"/>
            <a:chExt cx="1800428" cy="1924143"/>
          </a:xfrm>
        </p:grpSpPr>
        <p:grpSp>
          <p:nvGrpSpPr>
            <p:cNvPr id="39" name="Group 38">
              <a:extLst>
                <a:ext uri="{FF2B5EF4-FFF2-40B4-BE49-F238E27FC236}">
                  <a16:creationId xmlns:a16="http://schemas.microsoft.com/office/drawing/2014/main" id="{FF4AD808-E420-DCC2-1BEC-4A5B9E9C6C49}"/>
                </a:ext>
              </a:extLst>
            </p:cNvPr>
            <p:cNvGrpSpPr/>
            <p:nvPr/>
          </p:nvGrpSpPr>
          <p:grpSpPr>
            <a:xfrm>
              <a:off x="3870074" y="3228229"/>
              <a:ext cx="1800428" cy="1924143"/>
              <a:chOff x="4438738" y="3359629"/>
              <a:chExt cx="1800428" cy="1924143"/>
            </a:xfrm>
          </p:grpSpPr>
          <p:sp>
            <p:nvSpPr>
              <p:cNvPr id="40" name="Rounded Rectangle 39">
                <a:extLst>
                  <a:ext uri="{FF2B5EF4-FFF2-40B4-BE49-F238E27FC236}">
                    <a16:creationId xmlns:a16="http://schemas.microsoft.com/office/drawing/2014/main" id="{5A819103-99F5-D930-71B9-B5D0A97C508B}"/>
                  </a:ext>
                </a:extLst>
              </p:cNvPr>
              <p:cNvSpPr/>
              <p:nvPr/>
            </p:nvSpPr>
            <p:spPr>
              <a:xfrm>
                <a:off x="4438738" y="3359629"/>
                <a:ext cx="1800428" cy="1924143"/>
              </a:xfrm>
              <a:prstGeom prst="roundRect">
                <a:avLst>
                  <a:gd name="adj" fmla="val 787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Rounded Rectangle 40">
                <a:extLst>
                  <a:ext uri="{FF2B5EF4-FFF2-40B4-BE49-F238E27FC236}">
                    <a16:creationId xmlns:a16="http://schemas.microsoft.com/office/drawing/2014/main" id="{B9FE1E5A-A443-5FB3-523C-A206EB353D73}"/>
                  </a:ext>
                </a:extLst>
              </p:cNvPr>
              <p:cNvSpPr/>
              <p:nvPr/>
            </p:nvSpPr>
            <p:spPr>
              <a:xfrm>
                <a:off x="4519147" y="4620378"/>
                <a:ext cx="1631527" cy="559501"/>
              </a:xfrm>
              <a:prstGeom prst="roundRect">
                <a:avLst>
                  <a:gd name="adj" fmla="val 7872"/>
                </a:avLst>
              </a:prstGeom>
              <a:solidFill>
                <a:schemeClr val="bg1"/>
              </a:solidFill>
              <a:ln w="19050">
                <a:solidFill>
                  <a:srgbClr val="0070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2" name="Picture 8">
                <a:extLst>
                  <a:ext uri="{FF2B5EF4-FFF2-40B4-BE49-F238E27FC236}">
                    <a16:creationId xmlns:a16="http://schemas.microsoft.com/office/drawing/2014/main" id="{2225B93F-02D9-1B2E-741A-1237FF56A6A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27971" y="4670180"/>
                <a:ext cx="1074156" cy="436376"/>
              </a:xfrm>
              <a:prstGeom prst="rect">
                <a:avLst/>
              </a:prstGeom>
              <a:noFill/>
              <a:extLst>
                <a:ext uri="{909E8E84-426E-40DD-AFC4-6F175D3DCCD1}">
                  <a14:hiddenFill xmlns:a14="http://schemas.microsoft.com/office/drawing/2010/main">
                    <a:solidFill>
                      <a:srgbClr val="FFFFFF"/>
                    </a:solidFill>
                  </a14:hiddenFill>
                </a:ext>
              </a:extLst>
            </p:spPr>
          </p:pic>
          <p:pic>
            <p:nvPicPr>
              <p:cNvPr id="43" name="Graphic 42">
                <a:extLst>
                  <a:ext uri="{FF2B5EF4-FFF2-40B4-BE49-F238E27FC236}">
                    <a16:creationId xmlns:a16="http://schemas.microsoft.com/office/drawing/2014/main" id="{D0981D92-E4F3-EC69-D7AE-5BD7FEF7107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73704" y="4715271"/>
                <a:ext cx="262893" cy="262893"/>
              </a:xfrm>
              <a:prstGeom prst="rect">
                <a:avLst/>
              </a:prstGeom>
            </p:spPr>
          </p:pic>
          <p:sp>
            <p:nvSpPr>
              <p:cNvPr id="44" name="Text 29">
                <a:extLst>
                  <a:ext uri="{FF2B5EF4-FFF2-40B4-BE49-F238E27FC236}">
                    <a16:creationId xmlns:a16="http://schemas.microsoft.com/office/drawing/2014/main" id="{C57E3F9E-6553-DA8F-6CB9-C181311563ED}"/>
                  </a:ext>
                </a:extLst>
              </p:cNvPr>
              <p:cNvSpPr/>
              <p:nvPr/>
            </p:nvSpPr>
            <p:spPr>
              <a:xfrm>
                <a:off x="5651988" y="5008532"/>
                <a:ext cx="530454" cy="149268"/>
              </a:xfrm>
              <a:prstGeom prst="rect">
                <a:avLst/>
              </a:prstGeom>
              <a:noFill/>
              <a:ln/>
            </p:spPr>
            <p:txBody>
              <a:bodyPr wrap="square" lIns="0" tIns="0" rIns="0" bIns="0" rtlCol="0" anchor="t"/>
              <a:lstStyle/>
              <a:p>
                <a:r>
                  <a:rPr lang="en-US" sz="8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Joule Skill</a:t>
                </a:r>
              </a:p>
            </p:txBody>
          </p:sp>
          <p:pic>
            <p:nvPicPr>
              <p:cNvPr id="45" name="Picture 44">
                <a:extLst>
                  <a:ext uri="{FF2B5EF4-FFF2-40B4-BE49-F238E27FC236}">
                    <a16:creationId xmlns:a16="http://schemas.microsoft.com/office/drawing/2014/main" id="{0BA8B989-4F81-94DB-9EE6-1DAA9FAFCA15}"/>
                  </a:ext>
                </a:extLst>
              </p:cNvPr>
              <p:cNvPicPr>
                <a:picLocks noChangeAspect="1"/>
              </p:cNvPicPr>
              <p:nvPr/>
            </p:nvPicPr>
            <p:blipFill>
              <a:blip r:embed="rId17"/>
              <a:stretch>
                <a:fillRect/>
              </a:stretch>
            </p:blipFill>
            <p:spPr>
              <a:xfrm rot="10800000" flipH="1">
                <a:off x="4484751" y="3416220"/>
                <a:ext cx="405261" cy="375802"/>
              </a:xfrm>
              <a:prstGeom prst="rect">
                <a:avLst/>
              </a:prstGeom>
            </p:spPr>
          </p:pic>
          <p:sp>
            <p:nvSpPr>
              <p:cNvPr id="46" name="Text 26">
                <a:extLst>
                  <a:ext uri="{FF2B5EF4-FFF2-40B4-BE49-F238E27FC236}">
                    <a16:creationId xmlns:a16="http://schemas.microsoft.com/office/drawing/2014/main" id="{3182E097-C86E-7E3C-CF99-997F33B51DF6}"/>
                  </a:ext>
                </a:extLst>
              </p:cNvPr>
              <p:cNvSpPr/>
              <p:nvPr/>
            </p:nvSpPr>
            <p:spPr>
              <a:xfrm>
                <a:off x="4921533" y="3534299"/>
                <a:ext cx="570486" cy="153524"/>
              </a:xfrm>
              <a:prstGeom prst="rect">
                <a:avLst/>
              </a:prstGeom>
              <a:noFill/>
              <a:ln/>
            </p:spPr>
            <p:txBody>
              <a:bodyPr wrap="square" lIns="0" tIns="0" rIns="0" bIns="0" rtlCol="0" anchor="t"/>
              <a:lstStyle/>
              <a:p>
                <a:pP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Build</a:t>
                </a:r>
              </a:p>
            </p:txBody>
          </p:sp>
          <p:sp>
            <p:nvSpPr>
              <p:cNvPr id="47" name="Rounded Rectangle 46">
                <a:extLst>
                  <a:ext uri="{FF2B5EF4-FFF2-40B4-BE49-F238E27FC236}">
                    <a16:creationId xmlns:a16="http://schemas.microsoft.com/office/drawing/2014/main" id="{4FE5A372-250A-B9BF-28D2-6C1E352CF22A}"/>
                  </a:ext>
                </a:extLst>
              </p:cNvPr>
              <p:cNvSpPr/>
              <p:nvPr/>
            </p:nvSpPr>
            <p:spPr>
              <a:xfrm>
                <a:off x="4525463" y="3885216"/>
                <a:ext cx="1620877" cy="487685"/>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8" name="Picture 4">
                <a:extLst>
                  <a:ext uri="{FF2B5EF4-FFF2-40B4-BE49-F238E27FC236}">
                    <a16:creationId xmlns:a16="http://schemas.microsoft.com/office/drawing/2014/main" id="{0F8BA0A3-2DE7-8891-5EA9-EF8A17A9BFD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67477" y="3901522"/>
                <a:ext cx="457600" cy="457600"/>
              </a:xfrm>
              <a:prstGeom prst="rect">
                <a:avLst/>
              </a:prstGeom>
              <a:noFill/>
            </p:spPr>
          </p:pic>
          <p:pic>
            <p:nvPicPr>
              <p:cNvPr id="49" name="Picture 48">
                <a:extLst>
                  <a:ext uri="{FF2B5EF4-FFF2-40B4-BE49-F238E27FC236}">
                    <a16:creationId xmlns:a16="http://schemas.microsoft.com/office/drawing/2014/main" id="{4E4FFF6A-44A8-AC65-7556-53AD033BA077}"/>
                  </a:ext>
                </a:extLst>
              </p:cNvPr>
              <p:cNvPicPr>
                <a:picLocks noChangeAspect="1"/>
              </p:cNvPicPr>
              <p:nvPr/>
            </p:nvPicPr>
            <p:blipFill>
              <a:blip r:embed="rId17"/>
              <a:stretch>
                <a:fillRect/>
              </a:stretch>
            </p:blipFill>
            <p:spPr>
              <a:xfrm>
                <a:off x="4594328" y="3977241"/>
                <a:ext cx="295369" cy="295369"/>
              </a:xfrm>
              <a:prstGeom prst="rect">
                <a:avLst/>
              </a:prstGeom>
            </p:spPr>
          </p:pic>
          <p:sp>
            <p:nvSpPr>
              <p:cNvPr id="50" name="Text 26">
                <a:extLst>
                  <a:ext uri="{FF2B5EF4-FFF2-40B4-BE49-F238E27FC236}">
                    <a16:creationId xmlns:a16="http://schemas.microsoft.com/office/drawing/2014/main" id="{56DFAB90-EADD-D351-F1BA-E3BC1FC53C41}"/>
                  </a:ext>
                </a:extLst>
              </p:cNvPr>
              <p:cNvSpPr/>
              <p:nvPr/>
            </p:nvSpPr>
            <p:spPr>
              <a:xfrm>
                <a:off x="4763612" y="3928935"/>
                <a:ext cx="873783" cy="402741"/>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Build Process Automation</a:t>
                </a:r>
              </a:p>
            </p:txBody>
          </p:sp>
        </p:grpSp>
        <p:cxnSp>
          <p:nvCxnSpPr>
            <p:cNvPr id="55" name="Straight Arrow Connector 54">
              <a:extLst>
                <a:ext uri="{FF2B5EF4-FFF2-40B4-BE49-F238E27FC236}">
                  <a16:creationId xmlns:a16="http://schemas.microsoft.com/office/drawing/2014/main" id="{23F4EF9D-8060-6AB5-2574-5A3249735A81}"/>
                </a:ext>
              </a:extLst>
            </p:cNvPr>
            <p:cNvCxnSpPr>
              <a:cxnSpLocks/>
              <a:stCxn id="47" idx="2"/>
              <a:endCxn id="41" idx="0"/>
            </p:cNvCxnSpPr>
            <p:nvPr/>
          </p:nvCxnSpPr>
          <p:spPr>
            <a:xfrm flipH="1">
              <a:off x="4766247" y="4241501"/>
              <a:ext cx="991" cy="247477"/>
            </a:xfrm>
            <a:prstGeom prst="straightConnector1">
              <a:avLst/>
            </a:prstGeom>
            <a:ln w="19050">
              <a:solidFill>
                <a:srgbClr val="475E75"/>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56" name="Text 29">
              <a:extLst>
                <a:ext uri="{FF2B5EF4-FFF2-40B4-BE49-F238E27FC236}">
                  <a16:creationId xmlns:a16="http://schemas.microsoft.com/office/drawing/2014/main" id="{4174B0DA-11ED-DA8D-0B4F-1D5572BC398A}"/>
                </a:ext>
              </a:extLst>
            </p:cNvPr>
            <p:cNvSpPr/>
            <p:nvPr/>
          </p:nvSpPr>
          <p:spPr>
            <a:xfrm>
              <a:off x="4847184" y="4315302"/>
              <a:ext cx="551797" cy="153277"/>
            </a:xfrm>
            <a:prstGeom prst="rect">
              <a:avLst/>
            </a:prstGeom>
            <a:noFill/>
            <a:ln/>
          </p:spPr>
          <p:txBody>
            <a:bodyPr wrap="square" lIns="0" tIns="0" rIns="0" bIns="0" rtlCol="0" anchor="t"/>
            <a:lstStyle/>
            <a:p>
              <a:r>
                <a:rPr lang="en-US" sz="8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integrated</a:t>
              </a:r>
            </a:p>
          </p:txBody>
        </p:sp>
      </p:grpSp>
      <p:sp>
        <p:nvSpPr>
          <p:cNvPr id="60" name="Oval 59">
            <a:extLst>
              <a:ext uri="{FF2B5EF4-FFF2-40B4-BE49-F238E27FC236}">
                <a16:creationId xmlns:a16="http://schemas.microsoft.com/office/drawing/2014/main" id="{E3EE9D19-21A6-014E-1230-3F95D04D03DE}"/>
              </a:ext>
            </a:extLst>
          </p:cNvPr>
          <p:cNvSpPr>
            <a:spLocks/>
          </p:cNvSpPr>
          <p:nvPr/>
        </p:nvSpPr>
        <p:spPr bwMode="gray">
          <a:xfrm>
            <a:off x="2679708" y="1704638"/>
            <a:ext cx="338166" cy="338166"/>
          </a:xfrm>
          <a:prstGeom prst="ellipse">
            <a:avLst/>
          </a:prstGeom>
          <a:gradFill>
            <a:gsLst>
              <a:gs pos="0">
                <a:srgbClr val="2395FF"/>
              </a:gs>
              <a:gs pos="50000">
                <a:srgbClr val="1176E8"/>
              </a:gs>
              <a:gs pos="100000">
                <a:srgbClr val="0057D2"/>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1</a:t>
            </a:r>
          </a:p>
        </p:txBody>
      </p:sp>
      <p:sp>
        <p:nvSpPr>
          <p:cNvPr id="61" name="Oval 60">
            <a:extLst>
              <a:ext uri="{FF2B5EF4-FFF2-40B4-BE49-F238E27FC236}">
                <a16:creationId xmlns:a16="http://schemas.microsoft.com/office/drawing/2014/main" id="{D94F29DF-A9A9-A692-41B6-FA8B94DAC500}"/>
              </a:ext>
            </a:extLst>
          </p:cNvPr>
          <p:cNvSpPr>
            <a:spLocks/>
          </p:cNvSpPr>
          <p:nvPr/>
        </p:nvSpPr>
        <p:spPr bwMode="gray">
          <a:xfrm>
            <a:off x="4410513" y="2266570"/>
            <a:ext cx="338166" cy="338166"/>
          </a:xfrm>
          <a:prstGeom prst="ellipse">
            <a:avLst/>
          </a:prstGeom>
          <a:gradFill>
            <a:gsLst>
              <a:gs pos="0">
                <a:srgbClr val="2395FF"/>
              </a:gs>
              <a:gs pos="50000">
                <a:srgbClr val="1176E8"/>
              </a:gs>
              <a:gs pos="100000">
                <a:srgbClr val="0057D2"/>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3</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7" name="Oval 76">
            <a:extLst>
              <a:ext uri="{FF2B5EF4-FFF2-40B4-BE49-F238E27FC236}">
                <a16:creationId xmlns:a16="http://schemas.microsoft.com/office/drawing/2014/main" id="{BB4942DF-DBEF-2069-2A16-667CB0C73358}"/>
              </a:ext>
            </a:extLst>
          </p:cNvPr>
          <p:cNvSpPr>
            <a:spLocks/>
          </p:cNvSpPr>
          <p:nvPr/>
        </p:nvSpPr>
        <p:spPr bwMode="gray">
          <a:xfrm>
            <a:off x="6969629" y="1270894"/>
            <a:ext cx="338166" cy="338166"/>
          </a:xfrm>
          <a:prstGeom prst="ellipse">
            <a:avLst/>
          </a:prstGeom>
          <a:gradFill>
            <a:gsLst>
              <a:gs pos="0">
                <a:srgbClr val="2395FF"/>
              </a:gs>
              <a:gs pos="50000">
                <a:srgbClr val="1176E8"/>
              </a:gs>
              <a:gs pos="100000">
                <a:srgbClr val="0057D2"/>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4</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8" name="Oval 77">
            <a:extLst>
              <a:ext uri="{FF2B5EF4-FFF2-40B4-BE49-F238E27FC236}">
                <a16:creationId xmlns:a16="http://schemas.microsoft.com/office/drawing/2014/main" id="{380A8D15-E917-75DA-7DA7-9FFBA82B73C5}"/>
              </a:ext>
            </a:extLst>
          </p:cNvPr>
          <p:cNvSpPr>
            <a:spLocks/>
          </p:cNvSpPr>
          <p:nvPr/>
        </p:nvSpPr>
        <p:spPr bwMode="gray">
          <a:xfrm>
            <a:off x="6329351" y="2668764"/>
            <a:ext cx="338166" cy="338166"/>
          </a:xfrm>
          <a:prstGeom prst="ellipse">
            <a:avLst/>
          </a:prstGeom>
          <a:gradFill>
            <a:gsLst>
              <a:gs pos="0">
                <a:srgbClr val="2395FF"/>
              </a:gs>
              <a:gs pos="50000">
                <a:srgbClr val="1176E8"/>
              </a:gs>
              <a:gs pos="100000">
                <a:srgbClr val="0057D2"/>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5</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2" name="Oval 81">
            <a:extLst>
              <a:ext uri="{FF2B5EF4-FFF2-40B4-BE49-F238E27FC236}">
                <a16:creationId xmlns:a16="http://schemas.microsoft.com/office/drawing/2014/main" id="{9B43674E-2358-E051-3FA9-A83491B79385}"/>
              </a:ext>
            </a:extLst>
          </p:cNvPr>
          <p:cNvSpPr>
            <a:spLocks/>
          </p:cNvSpPr>
          <p:nvPr/>
        </p:nvSpPr>
        <p:spPr bwMode="gray">
          <a:xfrm>
            <a:off x="3542671" y="3254087"/>
            <a:ext cx="338166" cy="338166"/>
          </a:xfrm>
          <a:prstGeom prst="ellipse">
            <a:avLst/>
          </a:prstGeom>
          <a:gradFill>
            <a:gsLst>
              <a:gs pos="0">
                <a:srgbClr val="F052EE"/>
              </a:gs>
              <a:gs pos="50000">
                <a:srgbClr val="DC3FE3"/>
              </a:gs>
              <a:gs pos="100000">
                <a:srgbClr val="A909C7"/>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6</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5" name="Oval 84">
            <a:extLst>
              <a:ext uri="{FF2B5EF4-FFF2-40B4-BE49-F238E27FC236}">
                <a16:creationId xmlns:a16="http://schemas.microsoft.com/office/drawing/2014/main" id="{E8F12D32-5E1A-E3A7-8F26-36A3A221A7CE}"/>
              </a:ext>
            </a:extLst>
          </p:cNvPr>
          <p:cNvSpPr>
            <a:spLocks/>
          </p:cNvSpPr>
          <p:nvPr/>
        </p:nvSpPr>
        <p:spPr bwMode="gray">
          <a:xfrm>
            <a:off x="7502165" y="2734976"/>
            <a:ext cx="338166" cy="338166"/>
          </a:xfrm>
          <a:prstGeom prst="ellipse">
            <a:avLst/>
          </a:prstGeom>
          <a:gradFill>
            <a:gsLst>
              <a:gs pos="0">
                <a:srgbClr val="F052EE"/>
              </a:gs>
              <a:gs pos="50000">
                <a:srgbClr val="DC3FE3"/>
              </a:gs>
              <a:gs pos="100000">
                <a:srgbClr val="A909C7"/>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10</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Oval 86">
            <a:extLst>
              <a:ext uri="{FF2B5EF4-FFF2-40B4-BE49-F238E27FC236}">
                <a16:creationId xmlns:a16="http://schemas.microsoft.com/office/drawing/2014/main" id="{A9FE4919-F48A-3B98-C0ED-6DC08DE923E3}"/>
              </a:ext>
            </a:extLst>
          </p:cNvPr>
          <p:cNvSpPr>
            <a:spLocks/>
          </p:cNvSpPr>
          <p:nvPr/>
        </p:nvSpPr>
        <p:spPr bwMode="gray">
          <a:xfrm>
            <a:off x="6069010" y="3616400"/>
            <a:ext cx="338166" cy="338166"/>
          </a:xfrm>
          <a:prstGeom prst="ellipse">
            <a:avLst/>
          </a:prstGeom>
          <a:gradFill>
            <a:gsLst>
              <a:gs pos="0">
                <a:srgbClr val="F052EE"/>
              </a:gs>
              <a:gs pos="50000">
                <a:srgbClr val="DC3FE3"/>
              </a:gs>
              <a:gs pos="100000">
                <a:srgbClr val="A909C7"/>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9</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9" name="Oval 88">
            <a:extLst>
              <a:ext uri="{FF2B5EF4-FFF2-40B4-BE49-F238E27FC236}">
                <a16:creationId xmlns:a16="http://schemas.microsoft.com/office/drawing/2014/main" id="{BDB06788-4DA6-771C-2B5F-046DEB4F7E3B}"/>
              </a:ext>
            </a:extLst>
          </p:cNvPr>
          <p:cNvSpPr>
            <a:spLocks/>
          </p:cNvSpPr>
          <p:nvPr/>
        </p:nvSpPr>
        <p:spPr bwMode="gray">
          <a:xfrm>
            <a:off x="7639364" y="2091001"/>
            <a:ext cx="338166" cy="338166"/>
          </a:xfrm>
          <a:prstGeom prst="ellipse">
            <a:avLst/>
          </a:prstGeom>
          <a:gradFill>
            <a:gsLst>
              <a:gs pos="0">
                <a:srgbClr val="F052EE"/>
              </a:gs>
              <a:gs pos="50000">
                <a:srgbClr val="DC3FE3"/>
              </a:gs>
              <a:gs pos="100000">
                <a:srgbClr val="A909C7"/>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8</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25" name="Group 124">
            <a:extLst>
              <a:ext uri="{FF2B5EF4-FFF2-40B4-BE49-F238E27FC236}">
                <a16:creationId xmlns:a16="http://schemas.microsoft.com/office/drawing/2014/main" id="{EBB728BF-9423-2A88-7A3A-46BD243A97E4}"/>
              </a:ext>
            </a:extLst>
          </p:cNvPr>
          <p:cNvGrpSpPr/>
          <p:nvPr/>
        </p:nvGrpSpPr>
        <p:grpSpPr>
          <a:xfrm>
            <a:off x="6243135" y="4916270"/>
            <a:ext cx="1276355" cy="969537"/>
            <a:chOff x="6165917" y="5480329"/>
            <a:chExt cx="1276687" cy="969789"/>
          </a:xfrm>
        </p:grpSpPr>
        <p:sp>
          <p:nvSpPr>
            <p:cNvPr id="91" name="Rounded Rectangle 90">
              <a:extLst>
                <a:ext uri="{FF2B5EF4-FFF2-40B4-BE49-F238E27FC236}">
                  <a16:creationId xmlns:a16="http://schemas.microsoft.com/office/drawing/2014/main" id="{3309D03B-2B12-249B-D6B6-1FAE042553D5}"/>
                </a:ext>
              </a:extLst>
            </p:cNvPr>
            <p:cNvSpPr/>
            <p:nvPr/>
          </p:nvSpPr>
          <p:spPr>
            <a:xfrm>
              <a:off x="6168087" y="5480329"/>
              <a:ext cx="1274517" cy="969789"/>
            </a:xfrm>
            <a:prstGeom prst="roundRect">
              <a:avLst>
                <a:gd name="adj" fmla="val 6525"/>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DE" sz="1100" dirty="0">
                <a:solidFill>
                  <a:srgbClr val="FFFFFF"/>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92" name="Graphic 91">
              <a:extLst>
                <a:ext uri="{FF2B5EF4-FFF2-40B4-BE49-F238E27FC236}">
                  <a16:creationId xmlns:a16="http://schemas.microsoft.com/office/drawing/2014/main" id="{A06D4B0C-A07A-82C9-1DA0-F361C53D8DC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604648" y="5633659"/>
              <a:ext cx="417600" cy="417600"/>
            </a:xfrm>
            <a:prstGeom prst="rect">
              <a:avLst/>
            </a:prstGeom>
          </p:spPr>
        </p:pic>
        <p:sp>
          <p:nvSpPr>
            <p:cNvPr id="93" name="Text 26">
              <a:extLst>
                <a:ext uri="{FF2B5EF4-FFF2-40B4-BE49-F238E27FC236}">
                  <a16:creationId xmlns:a16="http://schemas.microsoft.com/office/drawing/2014/main" id="{B1AF4185-7822-D4C7-2A10-62BF28A6CE95}"/>
                </a:ext>
              </a:extLst>
            </p:cNvPr>
            <p:cNvSpPr/>
            <p:nvPr/>
          </p:nvSpPr>
          <p:spPr>
            <a:xfrm>
              <a:off x="6165917" y="6110278"/>
              <a:ext cx="1274516" cy="233253"/>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Cloud Identity Service</a:t>
              </a:r>
            </a:p>
          </p:txBody>
        </p:sp>
      </p:grpSp>
      <p:cxnSp>
        <p:nvCxnSpPr>
          <p:cNvPr id="95" name="Straight Arrow Connector 94">
            <a:extLst>
              <a:ext uri="{FF2B5EF4-FFF2-40B4-BE49-F238E27FC236}">
                <a16:creationId xmlns:a16="http://schemas.microsoft.com/office/drawing/2014/main" id="{56738FB1-85E9-3EFF-1125-B61463E939C0}"/>
              </a:ext>
            </a:extLst>
          </p:cNvPr>
          <p:cNvCxnSpPr>
            <a:cxnSpLocks/>
            <a:stCxn id="6" idx="2"/>
            <a:endCxn id="91" idx="0"/>
          </p:cNvCxnSpPr>
          <p:nvPr/>
        </p:nvCxnSpPr>
        <p:spPr>
          <a:xfrm flipH="1">
            <a:off x="6882397" y="4674436"/>
            <a:ext cx="705" cy="241834"/>
          </a:xfrm>
          <a:prstGeom prst="straightConnector1">
            <a:avLst/>
          </a:prstGeom>
          <a:ln w="19050">
            <a:solidFill>
              <a:srgbClr val="475E75"/>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1D85EACA-516E-87AE-6245-57F8F01D3B1F}"/>
              </a:ext>
            </a:extLst>
          </p:cNvPr>
          <p:cNvCxnSpPr>
            <a:cxnSpLocks/>
            <a:stCxn id="97" idx="2"/>
            <a:endCxn id="100" idx="0"/>
          </p:cNvCxnSpPr>
          <p:nvPr/>
        </p:nvCxnSpPr>
        <p:spPr>
          <a:xfrm>
            <a:off x="11324583" y="4372454"/>
            <a:ext cx="0" cy="479389"/>
          </a:xfrm>
          <a:prstGeom prst="straightConnector1">
            <a:avLst/>
          </a:prstGeom>
          <a:ln w="19050">
            <a:solidFill>
              <a:srgbClr val="354A5F"/>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37341CC2-A0E6-BA51-8235-E6B4F6D1F042}"/>
              </a:ext>
            </a:extLst>
          </p:cNvPr>
          <p:cNvGrpSpPr/>
          <p:nvPr/>
        </p:nvGrpSpPr>
        <p:grpSpPr>
          <a:xfrm>
            <a:off x="10639134" y="4851843"/>
            <a:ext cx="1370900" cy="741054"/>
            <a:chOff x="10563061" y="5415885"/>
            <a:chExt cx="1371257" cy="741247"/>
          </a:xfrm>
        </p:grpSpPr>
        <p:sp>
          <p:nvSpPr>
            <p:cNvPr id="96" name="Text 26">
              <a:extLst>
                <a:ext uri="{FF2B5EF4-FFF2-40B4-BE49-F238E27FC236}">
                  <a16:creationId xmlns:a16="http://schemas.microsoft.com/office/drawing/2014/main" id="{8166A0EE-15FC-B336-30DF-BD792FE00CB8}"/>
                </a:ext>
              </a:extLst>
            </p:cNvPr>
            <p:cNvSpPr/>
            <p:nvPr/>
          </p:nvSpPr>
          <p:spPr>
            <a:xfrm>
              <a:off x="10563061" y="5862974"/>
              <a:ext cx="1371257" cy="218017"/>
            </a:xfrm>
            <a:prstGeom prst="rect">
              <a:avLst/>
            </a:prstGeom>
            <a:noFill/>
            <a:ln/>
          </p:spPr>
          <p:txBody>
            <a:bodyPr wrap="square" lIns="0" tIns="0" rIns="0" bIns="0" rtlCol="0" anchor="t"/>
            <a:lstStyle/>
            <a:p>
              <a:pPr algn="ctr">
                <a:lnSpc>
                  <a:spcPts val="1100"/>
                </a:lnSpc>
              </a:pPr>
              <a:r>
                <a:rPr lang="en-US" sz="11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Application Clients</a:t>
              </a:r>
            </a:p>
          </p:txBody>
        </p:sp>
        <p:sp>
          <p:nvSpPr>
            <p:cNvPr id="99" name="Text 32">
              <a:extLst>
                <a:ext uri="{FF2B5EF4-FFF2-40B4-BE49-F238E27FC236}">
                  <a16:creationId xmlns:a16="http://schemas.microsoft.com/office/drawing/2014/main" id="{F2BB14AE-31A8-29A5-8086-1B77F4B40006}"/>
                </a:ext>
              </a:extLst>
            </p:cNvPr>
            <p:cNvSpPr/>
            <p:nvPr/>
          </p:nvSpPr>
          <p:spPr>
            <a:xfrm>
              <a:off x="10821047" y="6017432"/>
              <a:ext cx="855285" cy="139700"/>
            </a:xfrm>
            <a:prstGeom prst="rect">
              <a:avLst/>
            </a:prstGeom>
            <a:noFill/>
            <a:ln/>
          </p:spPr>
          <p:txBody>
            <a:bodyPr wrap="square" lIns="0" tIns="0" rIns="0" bIns="0" rtlCol="0" anchor="t"/>
            <a:lstStyle/>
            <a:p>
              <a:pPr algn="ctr"/>
              <a:r>
                <a:rPr lang="en-US" sz="700" dirty="0">
                  <a:solidFill>
                    <a:srgbClr val="5B738B">
                      <a:alpha val="100000"/>
                    </a:srgbClr>
                  </a:solidFill>
                  <a:latin typeface="Helvetica Neue" panose="02000503000000020004" pitchFamily="2" charset="0"/>
                  <a:ea typeface="Helvetica Neue" panose="02000503000000020004" pitchFamily="2" charset="0"/>
                  <a:cs typeface="Helvetica Neue" panose="02000503000000020004" pitchFamily="2" charset="0"/>
                </a:rPr>
                <a:t>Desktop</a:t>
              </a:r>
              <a:endParaRPr lang="en-US" sz="7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00" name="Graphic 99">
              <a:extLst>
                <a:ext uri="{FF2B5EF4-FFF2-40B4-BE49-F238E27FC236}">
                  <a16:creationId xmlns:a16="http://schemas.microsoft.com/office/drawing/2014/main" id="{D49CC33D-3464-F832-229C-817605095E9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039889" y="5415885"/>
              <a:ext cx="417600" cy="417600"/>
            </a:xfrm>
            <a:prstGeom prst="rect">
              <a:avLst/>
            </a:prstGeom>
          </p:spPr>
        </p:pic>
      </p:grpSp>
      <p:grpSp>
        <p:nvGrpSpPr>
          <p:cNvPr id="126" name="Group 125">
            <a:extLst>
              <a:ext uri="{FF2B5EF4-FFF2-40B4-BE49-F238E27FC236}">
                <a16:creationId xmlns:a16="http://schemas.microsoft.com/office/drawing/2014/main" id="{E4227CEE-8F12-E5CF-877A-7897329204EA}"/>
              </a:ext>
            </a:extLst>
          </p:cNvPr>
          <p:cNvGrpSpPr/>
          <p:nvPr/>
        </p:nvGrpSpPr>
        <p:grpSpPr>
          <a:xfrm>
            <a:off x="10906819" y="3745821"/>
            <a:ext cx="835528" cy="626633"/>
            <a:chOff x="10830816" y="4309575"/>
            <a:chExt cx="835746" cy="626796"/>
          </a:xfrm>
        </p:grpSpPr>
        <p:sp>
          <p:nvSpPr>
            <p:cNvPr id="97" name="Text 26">
              <a:extLst>
                <a:ext uri="{FF2B5EF4-FFF2-40B4-BE49-F238E27FC236}">
                  <a16:creationId xmlns:a16="http://schemas.microsoft.com/office/drawing/2014/main" id="{2D5F42A9-3010-A2F2-9FF0-270D0E5CDFFE}"/>
                </a:ext>
              </a:extLst>
            </p:cNvPr>
            <p:cNvSpPr/>
            <p:nvPr/>
          </p:nvSpPr>
          <p:spPr>
            <a:xfrm>
              <a:off x="10830816" y="4794915"/>
              <a:ext cx="835746" cy="141456"/>
            </a:xfrm>
            <a:prstGeom prst="rect">
              <a:avLst/>
            </a:prstGeom>
            <a:noFill/>
            <a:ln/>
          </p:spPr>
          <p:txBody>
            <a:bodyPr wrap="square" lIns="0" tIns="0" rIns="0" bIns="0" rtlCol="0" anchor="t"/>
            <a:lstStyle/>
            <a:p>
              <a:pPr algn="ctr">
                <a:lnSpc>
                  <a:spcPts val="1100"/>
                </a:lnSpc>
              </a:pPr>
              <a:r>
                <a:rPr lang="en-US" sz="10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Business User</a:t>
              </a:r>
            </a:p>
          </p:txBody>
        </p:sp>
        <p:pic>
          <p:nvPicPr>
            <p:cNvPr id="101" name="Graphic 100">
              <a:extLst>
                <a:ext uri="{FF2B5EF4-FFF2-40B4-BE49-F238E27FC236}">
                  <a16:creationId xmlns:a16="http://schemas.microsoft.com/office/drawing/2014/main" id="{F535A439-E822-50A9-7D4F-EC901F1E52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44777" y="4309575"/>
              <a:ext cx="417600" cy="417600"/>
            </a:xfrm>
            <a:prstGeom prst="rect">
              <a:avLst/>
            </a:prstGeom>
          </p:spPr>
        </p:pic>
      </p:grpSp>
      <p:grpSp>
        <p:nvGrpSpPr>
          <p:cNvPr id="124" name="Group 123">
            <a:extLst>
              <a:ext uri="{FF2B5EF4-FFF2-40B4-BE49-F238E27FC236}">
                <a16:creationId xmlns:a16="http://schemas.microsoft.com/office/drawing/2014/main" id="{9EBB52CC-AAF4-2DFC-ECBA-36B9003D4F73}"/>
              </a:ext>
            </a:extLst>
          </p:cNvPr>
          <p:cNvGrpSpPr/>
          <p:nvPr/>
        </p:nvGrpSpPr>
        <p:grpSpPr>
          <a:xfrm>
            <a:off x="584290" y="1657582"/>
            <a:ext cx="5661015" cy="3827408"/>
            <a:chOff x="584441" y="1657125"/>
            <a:chExt cx="5662489" cy="3828405"/>
          </a:xfrm>
        </p:grpSpPr>
        <p:cxnSp>
          <p:nvCxnSpPr>
            <p:cNvPr id="94" name="Elbow Connector 93">
              <a:extLst>
                <a:ext uri="{FF2B5EF4-FFF2-40B4-BE49-F238E27FC236}">
                  <a16:creationId xmlns:a16="http://schemas.microsoft.com/office/drawing/2014/main" id="{756CE0EE-4DC8-35F1-DC82-350547E050E2}"/>
                </a:ext>
              </a:extLst>
            </p:cNvPr>
            <p:cNvCxnSpPr>
              <a:cxnSpLocks/>
              <a:stCxn id="91" idx="1"/>
              <a:endCxn id="11" idx="1"/>
            </p:cNvCxnSpPr>
            <p:nvPr/>
          </p:nvCxnSpPr>
          <p:spPr>
            <a:xfrm rot="10800000">
              <a:off x="584441" y="1657125"/>
              <a:ext cx="5662489" cy="3744433"/>
            </a:xfrm>
            <a:prstGeom prst="bentConnector3">
              <a:avLst>
                <a:gd name="adj1" fmla="val 104038"/>
              </a:avLst>
            </a:prstGeom>
            <a:ln w="19050" cap="rnd">
              <a:solidFill>
                <a:srgbClr val="188918"/>
              </a:solidFill>
              <a:round/>
              <a:headEnd w="med" len="med"/>
              <a:tailEnd type="triangle" w="sm" len="med"/>
            </a:ln>
          </p:spPr>
          <p:style>
            <a:lnRef idx="1">
              <a:schemeClr val="accent1"/>
            </a:lnRef>
            <a:fillRef idx="0">
              <a:schemeClr val="accent1"/>
            </a:fillRef>
            <a:effectRef idx="0">
              <a:schemeClr val="accent1"/>
            </a:effectRef>
            <a:fontRef idx="minor">
              <a:schemeClr val="tx1"/>
            </a:fontRef>
          </p:style>
        </p:cxnSp>
        <p:sp>
          <p:nvSpPr>
            <p:cNvPr id="102" name="Rounded Rectangle 101">
              <a:extLst>
                <a:ext uri="{FF2B5EF4-FFF2-40B4-BE49-F238E27FC236}">
                  <a16:creationId xmlns:a16="http://schemas.microsoft.com/office/drawing/2014/main" id="{1E7C88B7-DC3A-335F-BE85-57D9E1977A4D}"/>
                </a:ext>
              </a:extLst>
            </p:cNvPr>
            <p:cNvSpPr/>
            <p:nvPr/>
          </p:nvSpPr>
          <p:spPr>
            <a:xfrm>
              <a:off x="2310034" y="5331102"/>
              <a:ext cx="605222" cy="154428"/>
            </a:xfrm>
            <a:prstGeom prst="roundRect">
              <a:avLst>
                <a:gd name="adj" fmla="val 50000"/>
              </a:avLst>
            </a:prstGeom>
            <a:solidFill>
              <a:srgbClr val="188918"/>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Authenticate</a:t>
              </a:r>
            </a:p>
          </p:txBody>
        </p:sp>
      </p:grpSp>
      <p:cxnSp>
        <p:nvCxnSpPr>
          <p:cNvPr id="103" name="Straight Arrow Connector 102">
            <a:extLst>
              <a:ext uri="{FF2B5EF4-FFF2-40B4-BE49-F238E27FC236}">
                <a16:creationId xmlns:a16="http://schemas.microsoft.com/office/drawing/2014/main" id="{8B035757-5F76-C8FF-DCAB-AA5A023477D8}"/>
              </a:ext>
            </a:extLst>
          </p:cNvPr>
          <p:cNvCxnSpPr>
            <a:cxnSpLocks/>
            <a:stCxn id="96" idx="1"/>
            <a:endCxn id="91" idx="3"/>
          </p:cNvCxnSpPr>
          <p:nvPr/>
        </p:nvCxnSpPr>
        <p:spPr>
          <a:xfrm flipH="1" flipV="1">
            <a:off x="7519489" y="5401039"/>
            <a:ext cx="3119645" cy="6757"/>
          </a:xfrm>
          <a:prstGeom prst="straightConnector1">
            <a:avLst/>
          </a:prstGeom>
          <a:ln w="19050">
            <a:solidFill>
              <a:srgbClr val="188918"/>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105" name="Text 26">
            <a:extLst>
              <a:ext uri="{FF2B5EF4-FFF2-40B4-BE49-F238E27FC236}">
                <a16:creationId xmlns:a16="http://schemas.microsoft.com/office/drawing/2014/main" id="{6F0CC2F6-BD99-DBEE-ACD5-DCCBFB67CC75}"/>
              </a:ext>
            </a:extLst>
          </p:cNvPr>
          <p:cNvSpPr/>
          <p:nvPr/>
        </p:nvSpPr>
        <p:spPr>
          <a:xfrm>
            <a:off x="3651085" y="877502"/>
            <a:ext cx="1394303" cy="200245"/>
          </a:xfrm>
          <a:prstGeom prst="rect">
            <a:avLst/>
          </a:prstGeom>
          <a:noFill/>
          <a:ln/>
        </p:spPr>
        <p:txBody>
          <a:bodyPr wrap="square" lIns="0" tIns="0" rIns="0" bIns="0" rtlCol="0" anchor="t"/>
          <a:lstStyle/>
          <a:p>
            <a:pPr>
              <a:lnSpc>
                <a:spcPts val="1100"/>
              </a:lnSpc>
            </a:pPr>
            <a:r>
              <a:rPr lang="en-US" sz="9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rPr>
              <a:t>Subaccount</a:t>
            </a:r>
            <a:endParaRPr lang="en-US" sz="1000" dirty="0">
              <a:solidFill>
                <a:srgbClr val="354A5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6" name="Text 29">
            <a:extLst>
              <a:ext uri="{FF2B5EF4-FFF2-40B4-BE49-F238E27FC236}">
                <a16:creationId xmlns:a16="http://schemas.microsoft.com/office/drawing/2014/main" id="{FE2D8DD2-BBA4-5C11-EB71-5EAC8FF6BE3A}"/>
              </a:ext>
            </a:extLst>
          </p:cNvPr>
          <p:cNvSpPr/>
          <p:nvPr/>
        </p:nvSpPr>
        <p:spPr>
          <a:xfrm>
            <a:off x="3660510" y="1060372"/>
            <a:ext cx="1290722" cy="185361"/>
          </a:xfrm>
          <a:prstGeom prst="rect">
            <a:avLst/>
          </a:prstGeom>
          <a:noFill/>
          <a:ln/>
        </p:spPr>
        <p:txBody>
          <a:bodyPr wrap="square" lIns="0" tIns="0" rIns="0" bIns="0" rtlCol="0" anchor="t"/>
          <a:lstStyle/>
          <a:p>
            <a:r>
              <a:rPr lang="en-US" sz="8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Multi-Cloud</a:t>
            </a:r>
          </a:p>
        </p:txBody>
      </p:sp>
      <p:grpSp>
        <p:nvGrpSpPr>
          <p:cNvPr id="81" name="Group 80">
            <a:extLst>
              <a:ext uri="{FF2B5EF4-FFF2-40B4-BE49-F238E27FC236}">
                <a16:creationId xmlns:a16="http://schemas.microsoft.com/office/drawing/2014/main" id="{982E8059-39F0-E543-5D4C-394C35BD6706}"/>
              </a:ext>
            </a:extLst>
          </p:cNvPr>
          <p:cNvGrpSpPr/>
          <p:nvPr/>
        </p:nvGrpSpPr>
        <p:grpSpPr>
          <a:xfrm>
            <a:off x="10639133" y="310473"/>
            <a:ext cx="1428428" cy="842580"/>
            <a:chOff x="10563061" y="873332"/>
            <a:chExt cx="1428800" cy="842799"/>
          </a:xfrm>
        </p:grpSpPr>
        <p:sp>
          <p:nvSpPr>
            <p:cNvPr id="114" name="Rectangle 113">
              <a:extLst>
                <a:ext uri="{FF2B5EF4-FFF2-40B4-BE49-F238E27FC236}">
                  <a16:creationId xmlns:a16="http://schemas.microsoft.com/office/drawing/2014/main" id="{098285BB-78C4-CA3E-51CF-8E4AA11D8C6F}"/>
                </a:ext>
              </a:extLst>
            </p:cNvPr>
            <p:cNvSpPr/>
            <p:nvPr/>
          </p:nvSpPr>
          <p:spPr bwMode="gray">
            <a:xfrm>
              <a:off x="10563061" y="873332"/>
              <a:ext cx="1428800" cy="842799"/>
            </a:xfrm>
            <a:prstGeom prst="rect">
              <a:avLst/>
            </a:prstGeom>
            <a:solidFill>
              <a:srgbClr val="F5F6F8"/>
            </a:solidFill>
            <a:ln w="25400" algn="ctr">
              <a:no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DE" sz="1799" kern="0" dirty="0" err="1">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5" name="Text 29">
              <a:extLst>
                <a:ext uri="{FF2B5EF4-FFF2-40B4-BE49-F238E27FC236}">
                  <a16:creationId xmlns:a16="http://schemas.microsoft.com/office/drawing/2014/main" id="{8B53A9E4-8140-B71B-2F02-103B562B0391}"/>
                </a:ext>
              </a:extLst>
            </p:cNvPr>
            <p:cNvSpPr/>
            <p:nvPr/>
          </p:nvSpPr>
          <p:spPr>
            <a:xfrm>
              <a:off x="10647092" y="936038"/>
              <a:ext cx="588600" cy="120909"/>
            </a:xfrm>
            <a:prstGeom prst="rect">
              <a:avLst/>
            </a:prstGeom>
            <a:noFill/>
            <a:ln/>
          </p:spPr>
          <p:txBody>
            <a:bodyPr wrap="square" lIns="0" tIns="0" rIns="0" bIns="0" rtlCol="0" anchor="t"/>
            <a:lstStyle/>
            <a:p>
              <a:r>
                <a:rPr lang="en-US" sz="8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Legend</a:t>
              </a:r>
            </a:p>
          </p:txBody>
        </p:sp>
        <p:sp>
          <p:nvSpPr>
            <p:cNvPr id="116" name="Text 32">
              <a:extLst>
                <a:ext uri="{FF2B5EF4-FFF2-40B4-BE49-F238E27FC236}">
                  <a16:creationId xmlns:a16="http://schemas.microsoft.com/office/drawing/2014/main" id="{A92A06DF-F873-6B0D-64E6-E0376DCB8226}"/>
                </a:ext>
              </a:extLst>
            </p:cNvPr>
            <p:cNvSpPr/>
            <p:nvPr/>
          </p:nvSpPr>
          <p:spPr>
            <a:xfrm>
              <a:off x="11082612" y="1234276"/>
              <a:ext cx="868854" cy="120909"/>
            </a:xfrm>
            <a:prstGeom prst="rect">
              <a:avLst/>
            </a:prstGeom>
            <a:noFill/>
            <a:ln/>
          </p:spPr>
          <p:txBody>
            <a:bodyPr wrap="square" lIns="0" tIns="0" rIns="0" bIns="0" rtlCol="0" anchor="t"/>
            <a:lstStyle/>
            <a:p>
              <a:r>
                <a:rPr lang="en-US" sz="700" dirty="0">
                  <a:solidFill>
                    <a:srgbClr val="5B738B">
                      <a:alpha val="100000"/>
                    </a:srgbClr>
                  </a:solidFill>
                  <a:latin typeface="Helvetica Neue" panose="02000503000000020004" pitchFamily="2" charset="0"/>
                  <a:ea typeface="Helvetica Neue" panose="02000503000000020004" pitchFamily="2" charset="0"/>
                  <a:cs typeface="Helvetica Neue" panose="02000503000000020004" pitchFamily="2" charset="0"/>
                </a:rPr>
                <a:t>Real-time vector grounding flow</a:t>
              </a:r>
              <a:endParaRPr lang="en-US" sz="7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17" name="Straight Arrow Connector 116">
              <a:extLst>
                <a:ext uri="{FF2B5EF4-FFF2-40B4-BE49-F238E27FC236}">
                  <a16:creationId xmlns:a16="http://schemas.microsoft.com/office/drawing/2014/main" id="{C0ED9BA4-CF49-26BD-F59D-01D504D345CE}"/>
                </a:ext>
              </a:extLst>
            </p:cNvPr>
            <p:cNvCxnSpPr>
              <a:cxnSpLocks/>
            </p:cNvCxnSpPr>
            <p:nvPr/>
          </p:nvCxnSpPr>
          <p:spPr>
            <a:xfrm>
              <a:off x="10646548" y="1298536"/>
              <a:ext cx="352577" cy="0"/>
            </a:xfrm>
            <a:prstGeom prst="straightConnector1">
              <a:avLst/>
            </a:prstGeom>
            <a:ln w="19050">
              <a:solidFill>
                <a:srgbClr val="0C70E4"/>
              </a:solidFill>
              <a:headEnd w="sm" len="sm"/>
              <a:tailEnd type="triangle" w="sm" len="sm"/>
            </a:ln>
          </p:spPr>
          <p:style>
            <a:lnRef idx="1">
              <a:schemeClr val="accent1"/>
            </a:lnRef>
            <a:fillRef idx="0">
              <a:schemeClr val="accent1"/>
            </a:fillRef>
            <a:effectRef idx="0">
              <a:schemeClr val="accent1"/>
            </a:effectRef>
            <a:fontRef idx="minor">
              <a:schemeClr val="tx1"/>
            </a:fontRef>
          </p:style>
        </p:cxnSp>
      </p:grpSp>
      <p:cxnSp>
        <p:nvCxnSpPr>
          <p:cNvPr id="118" name="Straight Arrow Connector 117">
            <a:extLst>
              <a:ext uri="{FF2B5EF4-FFF2-40B4-BE49-F238E27FC236}">
                <a16:creationId xmlns:a16="http://schemas.microsoft.com/office/drawing/2014/main" id="{8782792A-345A-5D25-D14D-A8F76C84224D}"/>
              </a:ext>
            </a:extLst>
          </p:cNvPr>
          <p:cNvCxnSpPr>
            <a:cxnSpLocks/>
          </p:cNvCxnSpPr>
          <p:nvPr/>
        </p:nvCxnSpPr>
        <p:spPr>
          <a:xfrm>
            <a:off x="10727688" y="1000349"/>
            <a:ext cx="347397" cy="0"/>
          </a:xfrm>
          <a:prstGeom prst="straightConnector1">
            <a:avLst/>
          </a:prstGeom>
          <a:ln w="19050">
            <a:solidFill>
              <a:srgbClr val="CC00DC"/>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119" name="Text 32">
            <a:extLst>
              <a:ext uri="{FF2B5EF4-FFF2-40B4-BE49-F238E27FC236}">
                <a16:creationId xmlns:a16="http://schemas.microsoft.com/office/drawing/2014/main" id="{91C8DE75-6CAB-D993-46AE-C430D808B65E}"/>
              </a:ext>
            </a:extLst>
          </p:cNvPr>
          <p:cNvSpPr/>
          <p:nvPr/>
        </p:nvSpPr>
        <p:spPr>
          <a:xfrm>
            <a:off x="11158549" y="939910"/>
            <a:ext cx="868628" cy="213140"/>
          </a:xfrm>
          <a:prstGeom prst="rect">
            <a:avLst/>
          </a:prstGeom>
          <a:noFill/>
          <a:ln/>
        </p:spPr>
        <p:txBody>
          <a:bodyPr wrap="square" lIns="0" tIns="0" rIns="0" bIns="0" rtlCol="0" anchor="t"/>
          <a:lstStyle/>
          <a:p>
            <a:r>
              <a:rPr lang="en-US" sz="700" dirty="0">
                <a:solidFill>
                  <a:srgbClr val="5B738B">
                    <a:alpha val="100000"/>
                  </a:srgbClr>
                </a:solidFill>
                <a:latin typeface="Helvetica Neue" panose="02000503000000020004" pitchFamily="2" charset="0"/>
                <a:ea typeface="Helvetica Neue" panose="02000503000000020004" pitchFamily="2" charset="0"/>
                <a:cs typeface="Helvetica Neue" panose="02000503000000020004" pitchFamily="2" charset="0"/>
              </a:rPr>
              <a:t>Customer Success Digital Assistant flow </a:t>
            </a:r>
            <a:endParaRPr lang="en-US" sz="7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1" name="Oval 120">
            <a:extLst>
              <a:ext uri="{FF2B5EF4-FFF2-40B4-BE49-F238E27FC236}">
                <a16:creationId xmlns:a16="http://schemas.microsoft.com/office/drawing/2014/main" id="{9CB59C5E-DD8E-4465-62B0-0FE67C04804B}"/>
              </a:ext>
            </a:extLst>
          </p:cNvPr>
          <p:cNvSpPr>
            <a:spLocks/>
          </p:cNvSpPr>
          <p:nvPr/>
        </p:nvSpPr>
        <p:spPr bwMode="gray">
          <a:xfrm>
            <a:off x="4348237" y="1065880"/>
            <a:ext cx="338166" cy="338166"/>
          </a:xfrm>
          <a:prstGeom prst="ellipse">
            <a:avLst/>
          </a:prstGeom>
          <a:gradFill>
            <a:gsLst>
              <a:gs pos="0">
                <a:srgbClr val="2395FF"/>
              </a:gs>
              <a:gs pos="50000">
                <a:srgbClr val="1176E8"/>
              </a:gs>
              <a:gs pos="100000">
                <a:srgbClr val="0057D2"/>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2</a:t>
            </a:r>
          </a:p>
        </p:txBody>
      </p:sp>
      <p:grpSp>
        <p:nvGrpSpPr>
          <p:cNvPr id="27" name="Group 26">
            <a:extLst>
              <a:ext uri="{FF2B5EF4-FFF2-40B4-BE49-F238E27FC236}">
                <a16:creationId xmlns:a16="http://schemas.microsoft.com/office/drawing/2014/main" id="{B077E582-5350-5B7B-108A-AFEF26D46A77}"/>
              </a:ext>
            </a:extLst>
          </p:cNvPr>
          <p:cNvGrpSpPr/>
          <p:nvPr/>
        </p:nvGrpSpPr>
        <p:grpSpPr>
          <a:xfrm>
            <a:off x="4808486" y="1095843"/>
            <a:ext cx="1774415" cy="1313714"/>
            <a:chOff x="4730895" y="1658907"/>
            <a:chExt cx="1774877" cy="1314056"/>
          </a:xfrm>
        </p:grpSpPr>
        <p:grpSp>
          <p:nvGrpSpPr>
            <p:cNvPr id="4" name="Group 3">
              <a:extLst>
                <a:ext uri="{FF2B5EF4-FFF2-40B4-BE49-F238E27FC236}">
                  <a16:creationId xmlns:a16="http://schemas.microsoft.com/office/drawing/2014/main" id="{A8286051-58A1-BB4B-F266-E1AA503457F2}"/>
                </a:ext>
              </a:extLst>
            </p:cNvPr>
            <p:cNvGrpSpPr/>
            <p:nvPr/>
          </p:nvGrpSpPr>
          <p:grpSpPr>
            <a:xfrm>
              <a:off x="4735597" y="1677681"/>
              <a:ext cx="1770175" cy="1295282"/>
              <a:chOff x="4735597" y="1677681"/>
              <a:chExt cx="1770175" cy="1295282"/>
            </a:xfrm>
          </p:grpSpPr>
          <p:grpSp>
            <p:nvGrpSpPr>
              <p:cNvPr id="35" name="Group 34">
                <a:extLst>
                  <a:ext uri="{FF2B5EF4-FFF2-40B4-BE49-F238E27FC236}">
                    <a16:creationId xmlns:a16="http://schemas.microsoft.com/office/drawing/2014/main" id="{4AB8A096-5066-9014-7F7A-FA8F0A982F38}"/>
                  </a:ext>
                </a:extLst>
              </p:cNvPr>
              <p:cNvGrpSpPr/>
              <p:nvPr/>
            </p:nvGrpSpPr>
            <p:grpSpPr>
              <a:xfrm>
                <a:off x="4735597" y="1677681"/>
                <a:ext cx="1770175" cy="1295282"/>
                <a:chOff x="8928622" y="3356617"/>
                <a:chExt cx="1770175" cy="1295282"/>
              </a:xfrm>
            </p:grpSpPr>
            <p:sp>
              <p:nvSpPr>
                <p:cNvPr id="36" name="Rounded Rectangle 35">
                  <a:extLst>
                    <a:ext uri="{FF2B5EF4-FFF2-40B4-BE49-F238E27FC236}">
                      <a16:creationId xmlns:a16="http://schemas.microsoft.com/office/drawing/2014/main" id="{5CCE5012-CC9B-8694-9798-77E1A7C6FB59}"/>
                    </a:ext>
                  </a:extLst>
                </p:cNvPr>
                <p:cNvSpPr/>
                <p:nvPr/>
              </p:nvSpPr>
              <p:spPr>
                <a:xfrm>
                  <a:off x="8928622" y="3356617"/>
                  <a:ext cx="1770175" cy="1295282"/>
                </a:xfrm>
                <a:prstGeom prst="roundRect">
                  <a:avLst>
                    <a:gd name="adj" fmla="val 787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7" name="Text 26">
                  <a:extLst>
                    <a:ext uri="{FF2B5EF4-FFF2-40B4-BE49-F238E27FC236}">
                      <a16:creationId xmlns:a16="http://schemas.microsoft.com/office/drawing/2014/main" id="{44621F98-EF5A-5BC5-4749-D6B871540A02}"/>
                    </a:ext>
                  </a:extLst>
                </p:cNvPr>
                <p:cNvSpPr/>
                <p:nvPr/>
              </p:nvSpPr>
              <p:spPr>
                <a:xfrm>
                  <a:off x="9360664" y="3503636"/>
                  <a:ext cx="1168836" cy="342254"/>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Integration Suite</a:t>
                  </a:r>
                </a:p>
              </p:txBody>
            </p:sp>
          </p:grpSp>
          <p:sp>
            <p:nvSpPr>
              <p:cNvPr id="51" name="Rounded Rectangle 50">
                <a:extLst>
                  <a:ext uri="{FF2B5EF4-FFF2-40B4-BE49-F238E27FC236}">
                    <a16:creationId xmlns:a16="http://schemas.microsoft.com/office/drawing/2014/main" id="{21EC3645-3783-73C2-754E-4E28B332CB4D}"/>
                  </a:ext>
                </a:extLst>
              </p:cNvPr>
              <p:cNvSpPr/>
              <p:nvPr/>
            </p:nvSpPr>
            <p:spPr>
              <a:xfrm>
                <a:off x="4829528" y="2213744"/>
                <a:ext cx="1582000" cy="663252"/>
              </a:xfrm>
              <a:prstGeom prst="roundRect">
                <a:avLst>
                  <a:gd name="adj" fmla="val 7872"/>
                </a:avLst>
              </a:prstGeom>
              <a:solidFill>
                <a:schemeClr val="bg1"/>
              </a:solidFill>
              <a:ln w="19050">
                <a:solidFill>
                  <a:srgbClr val="0070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Text 26">
                <a:extLst>
                  <a:ext uri="{FF2B5EF4-FFF2-40B4-BE49-F238E27FC236}">
                    <a16:creationId xmlns:a16="http://schemas.microsoft.com/office/drawing/2014/main" id="{5286E22C-209F-4AE1-2332-528ADA98B56E}"/>
                  </a:ext>
                </a:extLst>
              </p:cNvPr>
              <p:cNvSpPr/>
              <p:nvPr/>
            </p:nvSpPr>
            <p:spPr>
              <a:xfrm>
                <a:off x="5132222" y="2315239"/>
                <a:ext cx="1279306" cy="164188"/>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Cloud Integration</a:t>
                </a:r>
              </a:p>
            </p:txBody>
          </p:sp>
          <p:pic>
            <p:nvPicPr>
              <p:cNvPr id="57" name="Picture 12">
                <a:extLst>
                  <a:ext uri="{FF2B5EF4-FFF2-40B4-BE49-F238E27FC236}">
                    <a16:creationId xmlns:a16="http://schemas.microsoft.com/office/drawing/2014/main" id="{60123905-0FF3-A3F6-5F66-8DEC470F6EC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46685" y="2164522"/>
                <a:ext cx="489802" cy="489802"/>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4">
                <a:extLst>
                  <a:ext uri="{FF2B5EF4-FFF2-40B4-BE49-F238E27FC236}">
                    <a16:creationId xmlns:a16="http://schemas.microsoft.com/office/drawing/2014/main" id="{175F0888-9A65-1171-1420-ADEE6EE97A7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13028" y="2397406"/>
                <a:ext cx="893449" cy="529452"/>
              </a:xfrm>
              <a:prstGeom prst="rect">
                <a:avLst/>
              </a:prstGeom>
              <a:noFill/>
              <a:extLst>
                <a:ext uri="{909E8E84-426E-40DD-AFC4-6F175D3DCCD1}">
                  <a14:hiddenFill xmlns:a14="http://schemas.microsoft.com/office/drawing/2010/main">
                    <a:solidFill>
                      <a:srgbClr val="FFFFFF"/>
                    </a:solidFill>
                  </a14:hiddenFill>
                </a:ext>
              </a:extLst>
            </p:spPr>
          </p:pic>
        </p:grpSp>
        <p:pic>
          <p:nvPicPr>
            <p:cNvPr id="123" name="Picture 2">
              <a:extLst>
                <a:ext uri="{FF2B5EF4-FFF2-40B4-BE49-F238E27FC236}">
                  <a16:creationId xmlns:a16="http://schemas.microsoft.com/office/drawing/2014/main" id="{ECABC4BA-A5B8-9FF9-789C-2A37B68B671E}"/>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30895" y="1658907"/>
              <a:ext cx="498412" cy="49841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9" name="Elbow Connector 58">
            <a:extLst>
              <a:ext uri="{FF2B5EF4-FFF2-40B4-BE49-F238E27FC236}">
                <a16:creationId xmlns:a16="http://schemas.microsoft.com/office/drawing/2014/main" id="{64F65F14-1BFD-C95D-F9E1-84A1B152A531}"/>
              </a:ext>
            </a:extLst>
          </p:cNvPr>
          <p:cNvCxnSpPr>
            <a:cxnSpLocks/>
            <a:stCxn id="22" idx="3"/>
            <a:endCxn id="51" idx="1"/>
          </p:cNvCxnSpPr>
          <p:nvPr/>
        </p:nvCxnSpPr>
        <p:spPr>
          <a:xfrm>
            <a:off x="4182820" y="1517524"/>
            <a:ext cx="724273" cy="464551"/>
          </a:xfrm>
          <a:prstGeom prst="bentConnector3">
            <a:avLst>
              <a:gd name="adj1" fmla="val 50000"/>
            </a:avLst>
          </a:prstGeom>
          <a:ln w="19050" cap="rnd">
            <a:solidFill>
              <a:srgbClr val="0C70E4"/>
            </a:solidFill>
            <a:miter lim="800000"/>
            <a:headEnd w="sm" len="sm"/>
            <a:tailEnd type="triangle" w="sm" len="med"/>
          </a:ln>
        </p:spPr>
        <p:style>
          <a:lnRef idx="1">
            <a:schemeClr val="accent1"/>
          </a:lnRef>
          <a:fillRef idx="0">
            <a:schemeClr val="accent1"/>
          </a:fillRef>
          <a:effectRef idx="0">
            <a:schemeClr val="accent1"/>
          </a:effectRef>
          <a:fontRef idx="minor">
            <a:schemeClr val="tx1"/>
          </a:fontRef>
        </p:style>
      </p:cxnSp>
      <p:sp>
        <p:nvSpPr>
          <p:cNvPr id="104" name="Rounded Rectangle 103">
            <a:extLst>
              <a:ext uri="{FF2B5EF4-FFF2-40B4-BE49-F238E27FC236}">
                <a16:creationId xmlns:a16="http://schemas.microsoft.com/office/drawing/2014/main" id="{74B32992-FE6D-0188-2A1C-375E8050D9AE}"/>
              </a:ext>
            </a:extLst>
          </p:cNvPr>
          <p:cNvSpPr/>
          <p:nvPr/>
        </p:nvSpPr>
        <p:spPr>
          <a:xfrm>
            <a:off x="4268368" y="1434620"/>
            <a:ext cx="472261" cy="208122"/>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SMF</a:t>
            </a:r>
            <a:endParaRPr lang="en-DE" sz="700" b="1">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8" name="Rounded Rectangle 27">
            <a:extLst>
              <a:ext uri="{FF2B5EF4-FFF2-40B4-BE49-F238E27FC236}">
                <a16:creationId xmlns:a16="http://schemas.microsoft.com/office/drawing/2014/main" id="{E7E49B29-7002-FCFF-8441-4F3DB587477A}"/>
              </a:ext>
            </a:extLst>
          </p:cNvPr>
          <p:cNvSpPr/>
          <p:nvPr/>
        </p:nvSpPr>
        <p:spPr>
          <a:xfrm>
            <a:off x="2571227" y="1398838"/>
            <a:ext cx="563585" cy="239057"/>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Publish Event</a:t>
            </a:r>
            <a:endParaRPr lang="en-DE" sz="12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20" name="Elbow Connector 119">
            <a:extLst>
              <a:ext uri="{FF2B5EF4-FFF2-40B4-BE49-F238E27FC236}">
                <a16:creationId xmlns:a16="http://schemas.microsoft.com/office/drawing/2014/main" id="{7D26789C-5AF2-9ED0-9109-758E9D6802FA}"/>
              </a:ext>
            </a:extLst>
          </p:cNvPr>
          <p:cNvCxnSpPr>
            <a:cxnSpLocks/>
            <a:endCxn id="11" idx="2"/>
          </p:cNvCxnSpPr>
          <p:nvPr/>
        </p:nvCxnSpPr>
        <p:spPr>
          <a:xfrm rot="10800000" flipV="1">
            <a:off x="1508499" y="2233963"/>
            <a:ext cx="3382970" cy="414821"/>
          </a:xfrm>
          <a:prstGeom prst="bentConnector4">
            <a:avLst>
              <a:gd name="adj1" fmla="val 36340"/>
              <a:gd name="adj2" fmla="val 155094"/>
            </a:avLst>
          </a:prstGeom>
          <a:ln w="19050" cap="rnd">
            <a:solidFill>
              <a:srgbClr val="0C70E4"/>
            </a:solidFill>
            <a:miter lim="800000"/>
            <a:headEnd type="none" w="sm" len="sm"/>
            <a:tailEnd type="triangle" w="sm" len="med"/>
          </a:ln>
        </p:spPr>
        <p:style>
          <a:lnRef idx="1">
            <a:schemeClr val="accent1"/>
          </a:lnRef>
          <a:fillRef idx="0">
            <a:schemeClr val="accent1"/>
          </a:fillRef>
          <a:effectRef idx="0">
            <a:schemeClr val="accent1"/>
          </a:effectRef>
          <a:fontRef idx="minor">
            <a:schemeClr val="tx1"/>
          </a:fontRef>
        </p:style>
      </p:cxnSp>
      <p:sp>
        <p:nvSpPr>
          <p:cNvPr id="122" name="Rounded Rectangle 121">
            <a:extLst>
              <a:ext uri="{FF2B5EF4-FFF2-40B4-BE49-F238E27FC236}">
                <a16:creationId xmlns:a16="http://schemas.microsoft.com/office/drawing/2014/main" id="{B99EE6BB-5A65-7096-2EF3-419A55FEAFC9}"/>
              </a:ext>
            </a:extLst>
          </p:cNvPr>
          <p:cNvSpPr/>
          <p:nvPr/>
        </p:nvSpPr>
        <p:spPr>
          <a:xfrm>
            <a:off x="2567796" y="2771106"/>
            <a:ext cx="563585" cy="239057"/>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OData / HTTPS</a:t>
            </a:r>
            <a:endParaRPr lang="en-DE" sz="12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80" name="Elbow Connector 79">
            <a:extLst>
              <a:ext uri="{FF2B5EF4-FFF2-40B4-BE49-F238E27FC236}">
                <a16:creationId xmlns:a16="http://schemas.microsoft.com/office/drawing/2014/main" id="{02EFB73F-C137-84AA-3584-BC6B934BCF49}"/>
              </a:ext>
            </a:extLst>
          </p:cNvPr>
          <p:cNvCxnSpPr>
            <a:cxnSpLocks/>
            <a:endCxn id="8" idx="0"/>
          </p:cNvCxnSpPr>
          <p:nvPr/>
        </p:nvCxnSpPr>
        <p:spPr>
          <a:xfrm rot="16200000" flipH="1">
            <a:off x="6125655" y="2501594"/>
            <a:ext cx="1422009" cy="1085424"/>
          </a:xfrm>
          <a:prstGeom prst="bentConnector3">
            <a:avLst>
              <a:gd name="adj1" fmla="val 50000"/>
            </a:avLst>
          </a:prstGeom>
          <a:ln w="19050" cap="rnd">
            <a:solidFill>
              <a:srgbClr val="0C70E4"/>
            </a:solidFill>
            <a:miter lim="800000"/>
            <a:headEnd w="sm" len="sm"/>
            <a:tailEnd type="triangle" w="sm" len="med"/>
          </a:ln>
        </p:spPr>
        <p:style>
          <a:lnRef idx="1">
            <a:schemeClr val="accent1"/>
          </a:lnRef>
          <a:fillRef idx="0">
            <a:schemeClr val="accent1"/>
          </a:fillRef>
          <a:effectRef idx="0">
            <a:schemeClr val="accent1"/>
          </a:effectRef>
          <a:fontRef idx="minor">
            <a:schemeClr val="tx1"/>
          </a:fontRef>
        </p:style>
      </p:cxnSp>
      <p:sp>
        <p:nvSpPr>
          <p:cNvPr id="107" name="Rounded Rectangle 106">
            <a:extLst>
              <a:ext uri="{FF2B5EF4-FFF2-40B4-BE49-F238E27FC236}">
                <a16:creationId xmlns:a16="http://schemas.microsoft.com/office/drawing/2014/main" id="{50B9BFEA-523E-76F9-32F5-57E6F2DAC5BD}"/>
              </a:ext>
            </a:extLst>
          </p:cNvPr>
          <p:cNvSpPr/>
          <p:nvPr/>
        </p:nvSpPr>
        <p:spPr>
          <a:xfrm>
            <a:off x="6721221" y="2944452"/>
            <a:ext cx="467878" cy="215944"/>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JDBC</a:t>
            </a:r>
          </a:p>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INSERT</a:t>
            </a:r>
            <a:endParaRPr lang="en-DE" sz="700" b="1">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11" name="Straight Arrow Connector 110">
            <a:extLst>
              <a:ext uri="{FF2B5EF4-FFF2-40B4-BE49-F238E27FC236}">
                <a16:creationId xmlns:a16="http://schemas.microsoft.com/office/drawing/2014/main" id="{D2C57506-6425-51EE-C528-2BA9A6A9EA05}"/>
              </a:ext>
            </a:extLst>
          </p:cNvPr>
          <p:cNvCxnSpPr>
            <a:cxnSpLocks/>
            <a:stCxn id="48" idx="0"/>
          </p:cNvCxnSpPr>
          <p:nvPr/>
        </p:nvCxnSpPr>
        <p:spPr>
          <a:xfrm flipV="1">
            <a:off x="5405049" y="2313614"/>
            <a:ext cx="18482" cy="892894"/>
          </a:xfrm>
          <a:prstGeom prst="straightConnector1">
            <a:avLst/>
          </a:prstGeom>
          <a:ln w="19050">
            <a:solidFill>
              <a:srgbClr val="CC00DC"/>
            </a:solidFill>
            <a:headEnd w="sm" len="sm"/>
            <a:tailEnd type="triangle" w="sm" len="med"/>
          </a:ln>
        </p:spPr>
        <p:style>
          <a:lnRef idx="1">
            <a:schemeClr val="accent1"/>
          </a:lnRef>
          <a:fillRef idx="0">
            <a:schemeClr val="accent1"/>
          </a:fillRef>
          <a:effectRef idx="0">
            <a:schemeClr val="accent1"/>
          </a:effectRef>
          <a:fontRef idx="minor">
            <a:schemeClr val="tx1"/>
          </a:fontRef>
        </p:style>
      </p:cxnSp>
      <p:sp>
        <p:nvSpPr>
          <p:cNvPr id="112" name="Rounded Rectangle 111">
            <a:extLst>
              <a:ext uri="{FF2B5EF4-FFF2-40B4-BE49-F238E27FC236}">
                <a16:creationId xmlns:a16="http://schemas.microsoft.com/office/drawing/2014/main" id="{8B07C261-C4FE-F3D1-4D8F-7912D4CEF5A7}"/>
              </a:ext>
            </a:extLst>
          </p:cNvPr>
          <p:cNvSpPr/>
          <p:nvPr/>
        </p:nvSpPr>
        <p:spPr>
          <a:xfrm rot="16200000">
            <a:off x="5179645" y="2724592"/>
            <a:ext cx="467878" cy="197948"/>
          </a:xfrm>
          <a:prstGeom prst="roundRect">
            <a:avLst>
              <a:gd name="adj" fmla="val 50000"/>
            </a:avLst>
          </a:prstGeom>
          <a:solidFill>
            <a:schemeClr val="bg1">
              <a:lumMod val="9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HTTPS</a:t>
            </a: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86" name="Elbow Connector 85">
            <a:extLst>
              <a:ext uri="{FF2B5EF4-FFF2-40B4-BE49-F238E27FC236}">
                <a16:creationId xmlns:a16="http://schemas.microsoft.com/office/drawing/2014/main" id="{ADFB6E8D-5F76-B50A-08C8-B73B25704D37}"/>
              </a:ext>
            </a:extLst>
          </p:cNvPr>
          <p:cNvCxnSpPr>
            <a:cxnSpLocks/>
            <a:endCxn id="8" idx="1"/>
          </p:cNvCxnSpPr>
          <p:nvPr/>
        </p:nvCxnSpPr>
        <p:spPr>
          <a:xfrm rot="16200000" flipH="1">
            <a:off x="5732359" y="2627448"/>
            <a:ext cx="1681583" cy="1093293"/>
          </a:xfrm>
          <a:prstGeom prst="bentConnector2">
            <a:avLst/>
          </a:prstGeom>
          <a:ln w="19050" cap="rnd">
            <a:solidFill>
              <a:srgbClr val="CC00DC"/>
            </a:solidFill>
            <a:miter lim="800000"/>
            <a:headEnd type="none" w="sm" len="sm"/>
            <a:tailEnd type="triangle" w="sm" len="med"/>
          </a:ln>
        </p:spPr>
        <p:style>
          <a:lnRef idx="1">
            <a:schemeClr val="accent1"/>
          </a:lnRef>
          <a:fillRef idx="0">
            <a:schemeClr val="accent1"/>
          </a:fillRef>
          <a:effectRef idx="0">
            <a:schemeClr val="accent1"/>
          </a:effectRef>
          <a:fontRef idx="minor">
            <a:schemeClr val="tx1"/>
          </a:fontRef>
        </p:style>
      </p:cxnSp>
      <p:sp>
        <p:nvSpPr>
          <p:cNvPr id="108" name="Rounded Rectangle 107">
            <a:extLst>
              <a:ext uri="{FF2B5EF4-FFF2-40B4-BE49-F238E27FC236}">
                <a16:creationId xmlns:a16="http://schemas.microsoft.com/office/drawing/2014/main" id="{28CA1313-2467-95FB-D427-A158A23F0902}"/>
              </a:ext>
            </a:extLst>
          </p:cNvPr>
          <p:cNvSpPr/>
          <p:nvPr/>
        </p:nvSpPr>
        <p:spPr>
          <a:xfrm>
            <a:off x="6340373" y="3913141"/>
            <a:ext cx="467878" cy="215944"/>
          </a:xfrm>
          <a:prstGeom prst="roundRect">
            <a:avLst>
              <a:gd name="adj" fmla="val 50000"/>
            </a:avLst>
          </a:prstGeom>
          <a:solidFill>
            <a:schemeClr val="bg1">
              <a:lumMod val="9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JDBC</a:t>
            </a:r>
          </a:p>
          <a:p>
            <a:pPr algn="ctr"/>
            <a:r>
              <a:rPr lang="en-US"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SELECT</a:t>
            </a: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3" name="Oval 82">
            <a:extLst>
              <a:ext uri="{FF2B5EF4-FFF2-40B4-BE49-F238E27FC236}">
                <a16:creationId xmlns:a16="http://schemas.microsoft.com/office/drawing/2014/main" id="{8A6B6EDA-7B82-559E-8A28-BE9C705FFF05}"/>
              </a:ext>
            </a:extLst>
          </p:cNvPr>
          <p:cNvSpPr>
            <a:spLocks/>
          </p:cNvSpPr>
          <p:nvPr/>
        </p:nvSpPr>
        <p:spPr bwMode="gray">
          <a:xfrm>
            <a:off x="4958155" y="2374803"/>
            <a:ext cx="338166" cy="338166"/>
          </a:xfrm>
          <a:prstGeom prst="ellipse">
            <a:avLst/>
          </a:prstGeom>
          <a:gradFill>
            <a:gsLst>
              <a:gs pos="0">
                <a:srgbClr val="F052EE"/>
              </a:gs>
              <a:gs pos="50000">
                <a:srgbClr val="DC3FE3"/>
              </a:gs>
              <a:gs pos="100000">
                <a:srgbClr val="A909C7"/>
              </a:gs>
            </a:gsLst>
            <a:lin ang="1822866" scaled="1"/>
          </a:gradFill>
          <a:ln w="25400" algn="ctr">
            <a:noFill/>
            <a:miter lim="800000"/>
            <a:headEnd/>
            <a:tailEnd/>
          </a:ln>
        </p:spPr>
        <p:txBody>
          <a:bodyPr lIns="0" tIns="0" rIns="0" bIns="0" rtlCol="0" anchor="ctr"/>
          <a:lstStyle/>
          <a:p>
            <a:pPr algn="ctr" defTabSz="914126" fontAlgn="base">
              <a:spcBef>
                <a:spcPct val="50000"/>
              </a:spcBef>
              <a:spcAft>
                <a:spcPct val="0"/>
              </a:spcAft>
              <a:buClr>
                <a:srgbClr val="F0AB00"/>
              </a:buClr>
              <a:buSzPct val="80000"/>
            </a:pPr>
            <a:r>
              <a:rPr lang="en-US"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7</a:t>
            </a:r>
            <a:endParaRPr lang="en-DE" sz="1400" b="1"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35" name="Group 134">
            <a:extLst>
              <a:ext uri="{FF2B5EF4-FFF2-40B4-BE49-F238E27FC236}">
                <a16:creationId xmlns:a16="http://schemas.microsoft.com/office/drawing/2014/main" id="{F67BA52C-9912-D09A-920A-DFB12E3F8F0A}"/>
              </a:ext>
            </a:extLst>
          </p:cNvPr>
          <p:cNvGrpSpPr/>
          <p:nvPr/>
        </p:nvGrpSpPr>
        <p:grpSpPr>
          <a:xfrm>
            <a:off x="8383726" y="911734"/>
            <a:ext cx="1778011" cy="2902919"/>
            <a:chOff x="8307066" y="1474750"/>
            <a:chExt cx="1778474" cy="2903675"/>
          </a:xfrm>
        </p:grpSpPr>
        <p:sp>
          <p:nvSpPr>
            <p:cNvPr id="130" name="Rounded Rectangle 129">
              <a:extLst>
                <a:ext uri="{FF2B5EF4-FFF2-40B4-BE49-F238E27FC236}">
                  <a16:creationId xmlns:a16="http://schemas.microsoft.com/office/drawing/2014/main" id="{3B830CB7-9129-52C8-B7E7-7F4A515F80F2}"/>
                </a:ext>
              </a:extLst>
            </p:cNvPr>
            <p:cNvSpPr/>
            <p:nvPr/>
          </p:nvSpPr>
          <p:spPr>
            <a:xfrm rot="5400000">
              <a:off x="7744465" y="2037351"/>
              <a:ext cx="2903675" cy="1778474"/>
            </a:xfrm>
            <a:prstGeom prst="roundRect">
              <a:avLst>
                <a:gd name="adj" fmla="val 7872"/>
              </a:avLst>
            </a:prstGeom>
            <a:solidFill>
              <a:srgbClr val="EBF9FF"/>
            </a:solidFill>
            <a:ln w="19050">
              <a:solidFill>
                <a:srgbClr val="0070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1" name="Rounded Rectangle 130">
              <a:extLst>
                <a:ext uri="{FF2B5EF4-FFF2-40B4-BE49-F238E27FC236}">
                  <a16:creationId xmlns:a16="http://schemas.microsoft.com/office/drawing/2014/main" id="{E6FE4C9E-D95E-09F2-76A0-46A700FA32F0}"/>
                </a:ext>
              </a:extLst>
            </p:cNvPr>
            <p:cNvSpPr/>
            <p:nvPr/>
          </p:nvSpPr>
          <p:spPr>
            <a:xfrm flipH="1">
              <a:off x="8424342" y="2061883"/>
              <a:ext cx="1549807" cy="2222639"/>
            </a:xfrm>
            <a:prstGeom prst="roundRect">
              <a:avLst>
                <a:gd name="adj" fmla="val 7872"/>
              </a:avLst>
            </a:prstGeom>
            <a:solidFill>
              <a:schemeClr val="bg1"/>
            </a:solidFill>
            <a:ln w="19050">
              <a:solidFill>
                <a:srgbClr val="0070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72" name="Graphic 71">
              <a:extLst>
                <a:ext uri="{FF2B5EF4-FFF2-40B4-BE49-F238E27FC236}">
                  <a16:creationId xmlns:a16="http://schemas.microsoft.com/office/drawing/2014/main" id="{1CF8B54E-04E0-F303-5F1E-0C765178F2E2}"/>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369369" y="1558198"/>
              <a:ext cx="417600" cy="417600"/>
            </a:xfrm>
            <a:prstGeom prst="rect">
              <a:avLst/>
            </a:prstGeom>
          </p:spPr>
        </p:pic>
        <p:pic>
          <p:nvPicPr>
            <p:cNvPr id="74" name="Graphic 73">
              <a:extLst>
                <a:ext uri="{FF2B5EF4-FFF2-40B4-BE49-F238E27FC236}">
                  <a16:creationId xmlns:a16="http://schemas.microsoft.com/office/drawing/2014/main" id="{011A0FDF-B3CD-EFFE-5E88-ADF6958834BF}"/>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589457" y="2189509"/>
              <a:ext cx="417600" cy="417600"/>
            </a:xfrm>
            <a:prstGeom prst="rect">
              <a:avLst/>
            </a:prstGeom>
          </p:spPr>
        </p:pic>
        <p:sp>
          <p:nvSpPr>
            <p:cNvPr id="75" name="Rounded Rectangle 74">
              <a:extLst>
                <a:ext uri="{FF2B5EF4-FFF2-40B4-BE49-F238E27FC236}">
                  <a16:creationId xmlns:a16="http://schemas.microsoft.com/office/drawing/2014/main" id="{87DE05DC-E666-11AC-2581-4150F0C3C9CF}"/>
                </a:ext>
              </a:extLst>
            </p:cNvPr>
            <p:cNvSpPr/>
            <p:nvPr/>
          </p:nvSpPr>
          <p:spPr>
            <a:xfrm>
              <a:off x="8602416" y="2729523"/>
              <a:ext cx="1274516" cy="612000"/>
            </a:xfrm>
            <a:prstGeom prst="roundRect">
              <a:avLst>
                <a:gd name="adj" fmla="val 39526"/>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6" name="Rounded Rectangle 75">
              <a:extLst>
                <a:ext uri="{FF2B5EF4-FFF2-40B4-BE49-F238E27FC236}">
                  <a16:creationId xmlns:a16="http://schemas.microsoft.com/office/drawing/2014/main" id="{01927869-E635-0DE2-DA28-639C17380435}"/>
                </a:ext>
              </a:extLst>
            </p:cNvPr>
            <p:cNvSpPr/>
            <p:nvPr/>
          </p:nvSpPr>
          <p:spPr>
            <a:xfrm>
              <a:off x="8599559" y="3585921"/>
              <a:ext cx="1274516" cy="612000"/>
            </a:xfrm>
            <a:prstGeom prst="roundRect">
              <a:avLst>
                <a:gd name="adj" fmla="val 39526"/>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799">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7" name="Text 26">
              <a:extLst>
                <a:ext uri="{FF2B5EF4-FFF2-40B4-BE49-F238E27FC236}">
                  <a16:creationId xmlns:a16="http://schemas.microsoft.com/office/drawing/2014/main" id="{4E67DDE8-E7C4-D7A3-385D-E9E70BE32CAB}"/>
                </a:ext>
              </a:extLst>
            </p:cNvPr>
            <p:cNvSpPr/>
            <p:nvPr/>
          </p:nvSpPr>
          <p:spPr>
            <a:xfrm>
              <a:off x="8817614" y="1701012"/>
              <a:ext cx="1003842" cy="239293"/>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AI Launchpad</a:t>
              </a:r>
            </a:p>
          </p:txBody>
        </p:sp>
        <p:sp>
          <p:nvSpPr>
            <p:cNvPr id="68" name="Text 26">
              <a:extLst>
                <a:ext uri="{FF2B5EF4-FFF2-40B4-BE49-F238E27FC236}">
                  <a16:creationId xmlns:a16="http://schemas.microsoft.com/office/drawing/2014/main" id="{B1E20DDA-66D2-035E-2D56-36D21EF59B0A}"/>
                </a:ext>
              </a:extLst>
            </p:cNvPr>
            <p:cNvSpPr/>
            <p:nvPr/>
          </p:nvSpPr>
          <p:spPr>
            <a:xfrm>
              <a:off x="8991136" y="2311673"/>
              <a:ext cx="856845" cy="233253"/>
            </a:xfrm>
            <a:prstGeom prst="rect">
              <a:avLst/>
            </a:prstGeom>
            <a:noFill/>
            <a:ln/>
          </p:spPr>
          <p:txBody>
            <a:bodyPr wrap="square" lIns="0" tIns="0" rIns="0" bIns="0" rtlCol="0" anchor="t"/>
            <a:lstStyle/>
            <a:p>
              <a:pPr algn="ctr">
                <a:lnSpc>
                  <a:spcPts val="1100"/>
                </a:lnSpc>
              </a:pPr>
              <a:r>
                <a:rPr lang="en-US" sz="900" b="1"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SAP AI Core</a:t>
              </a:r>
            </a:p>
          </p:txBody>
        </p:sp>
        <p:sp>
          <p:nvSpPr>
            <p:cNvPr id="69" name="Text 26">
              <a:extLst>
                <a:ext uri="{FF2B5EF4-FFF2-40B4-BE49-F238E27FC236}">
                  <a16:creationId xmlns:a16="http://schemas.microsoft.com/office/drawing/2014/main" id="{088B5D90-AEB1-FA7B-C9F8-EF9C343BF74B}"/>
                </a:ext>
              </a:extLst>
            </p:cNvPr>
            <p:cNvSpPr/>
            <p:nvPr/>
          </p:nvSpPr>
          <p:spPr>
            <a:xfrm>
              <a:off x="8808394" y="2990700"/>
              <a:ext cx="856845" cy="233253"/>
            </a:xfrm>
            <a:prstGeom prst="rect">
              <a:avLst/>
            </a:prstGeom>
            <a:noFill/>
            <a:ln/>
          </p:spPr>
          <p:txBody>
            <a:bodyPr wrap="square" lIns="0" tIns="0" rIns="0" bIns="0" rtlCol="0" anchor="t"/>
            <a:lstStyle/>
            <a:p>
              <a:pPr algn="ctr">
                <a:lnSpc>
                  <a:spcPts val="1100"/>
                </a:lnSpc>
              </a:pPr>
              <a:r>
                <a:rPr lang="en-US" sz="9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AI API</a:t>
              </a:r>
            </a:p>
          </p:txBody>
        </p:sp>
        <p:sp>
          <p:nvSpPr>
            <p:cNvPr id="70" name="Text 26">
              <a:extLst>
                <a:ext uri="{FF2B5EF4-FFF2-40B4-BE49-F238E27FC236}">
                  <a16:creationId xmlns:a16="http://schemas.microsoft.com/office/drawing/2014/main" id="{11DFA8BD-9920-60A7-3940-D679CAD7F2F4}"/>
                </a:ext>
              </a:extLst>
            </p:cNvPr>
            <p:cNvSpPr/>
            <p:nvPr/>
          </p:nvSpPr>
          <p:spPr>
            <a:xfrm>
              <a:off x="8808394" y="3817713"/>
              <a:ext cx="856845" cy="233253"/>
            </a:xfrm>
            <a:prstGeom prst="rect">
              <a:avLst/>
            </a:prstGeom>
            <a:noFill/>
            <a:ln/>
          </p:spPr>
          <p:txBody>
            <a:bodyPr wrap="square" lIns="0" tIns="0" rIns="0" bIns="0" rtlCol="0" anchor="t"/>
            <a:lstStyle/>
            <a:p>
              <a:pPr algn="ctr">
                <a:lnSpc>
                  <a:spcPts val="1100"/>
                </a:lnSpc>
              </a:pPr>
              <a:r>
                <a:rPr lang="en-US" sz="9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AI Models</a:t>
              </a:r>
            </a:p>
          </p:txBody>
        </p:sp>
        <p:sp>
          <p:nvSpPr>
            <p:cNvPr id="65" name="Text 29">
              <a:extLst>
                <a:ext uri="{FF2B5EF4-FFF2-40B4-BE49-F238E27FC236}">
                  <a16:creationId xmlns:a16="http://schemas.microsoft.com/office/drawing/2014/main" id="{B850DDF6-47FB-A28C-34F3-10B5CAF429D2}"/>
                </a:ext>
              </a:extLst>
            </p:cNvPr>
            <p:cNvSpPr/>
            <p:nvPr/>
          </p:nvSpPr>
          <p:spPr>
            <a:xfrm>
              <a:off x="9314155" y="3389049"/>
              <a:ext cx="551797" cy="153277"/>
            </a:xfrm>
            <a:prstGeom prst="rect">
              <a:avLst/>
            </a:prstGeom>
            <a:noFill/>
            <a:ln/>
          </p:spPr>
          <p:txBody>
            <a:bodyPr wrap="square" lIns="0" tIns="0" rIns="0" bIns="0" rtlCol="0" anchor="t"/>
            <a:lstStyle/>
            <a:p>
              <a:r>
                <a:rPr lang="en-US" sz="800" dirty="0">
                  <a:solidFill>
                    <a:srgbClr val="1D2D3E"/>
                  </a:solidFill>
                  <a:latin typeface="Helvetica Neue" panose="02000503000000020004" pitchFamily="2" charset="0"/>
                  <a:ea typeface="Helvetica Neue" panose="02000503000000020004" pitchFamily="2" charset="0"/>
                  <a:cs typeface="Helvetica Neue" panose="02000503000000020004" pitchFamily="2" charset="0"/>
                </a:rPr>
                <a:t>integrated</a:t>
              </a:r>
            </a:p>
          </p:txBody>
        </p:sp>
        <p:cxnSp>
          <p:nvCxnSpPr>
            <p:cNvPr id="132" name="Straight Arrow Connector 131">
              <a:extLst>
                <a:ext uri="{FF2B5EF4-FFF2-40B4-BE49-F238E27FC236}">
                  <a16:creationId xmlns:a16="http://schemas.microsoft.com/office/drawing/2014/main" id="{1948F656-F40A-DEE3-2A71-14F5C9D54B3D}"/>
                </a:ext>
              </a:extLst>
            </p:cNvPr>
            <p:cNvCxnSpPr>
              <a:cxnSpLocks/>
              <a:stCxn id="75" idx="2"/>
              <a:endCxn id="76" idx="0"/>
            </p:cNvCxnSpPr>
            <p:nvPr/>
          </p:nvCxnSpPr>
          <p:spPr>
            <a:xfrm flipH="1">
              <a:off x="9236817" y="3341523"/>
              <a:ext cx="2857" cy="244398"/>
            </a:xfrm>
            <a:prstGeom prst="straightConnector1">
              <a:avLst/>
            </a:prstGeom>
            <a:ln w="19050">
              <a:solidFill>
                <a:srgbClr val="475E75"/>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grpSp>
      <p:cxnSp>
        <p:nvCxnSpPr>
          <p:cNvPr id="109" name="Elbow Connector 108">
            <a:extLst>
              <a:ext uri="{FF2B5EF4-FFF2-40B4-BE49-F238E27FC236}">
                <a16:creationId xmlns:a16="http://schemas.microsoft.com/office/drawing/2014/main" id="{3C784811-2949-16F6-4B16-1D812D029281}"/>
              </a:ext>
            </a:extLst>
          </p:cNvPr>
          <p:cNvCxnSpPr>
            <a:cxnSpLocks/>
            <a:endCxn id="75" idx="1"/>
          </p:cNvCxnSpPr>
          <p:nvPr/>
        </p:nvCxnSpPr>
        <p:spPr>
          <a:xfrm>
            <a:off x="6481822" y="1992633"/>
            <a:ext cx="2197177" cy="479468"/>
          </a:xfrm>
          <a:prstGeom prst="bentConnector3">
            <a:avLst>
              <a:gd name="adj1" fmla="val 50000"/>
            </a:avLst>
          </a:prstGeom>
          <a:ln w="19050" cap="rnd">
            <a:solidFill>
              <a:srgbClr val="CC00DC"/>
            </a:solidFill>
            <a:miter lim="800000"/>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4C9173FC-BB2E-501F-16FE-0E3BE5B94824}"/>
              </a:ext>
            </a:extLst>
          </p:cNvPr>
          <p:cNvCxnSpPr>
            <a:cxnSpLocks/>
          </p:cNvCxnSpPr>
          <p:nvPr/>
        </p:nvCxnSpPr>
        <p:spPr>
          <a:xfrm>
            <a:off x="6510176" y="2221186"/>
            <a:ext cx="2213857" cy="468225"/>
          </a:xfrm>
          <a:prstGeom prst="bentConnector3">
            <a:avLst>
              <a:gd name="adj1" fmla="val 9615"/>
            </a:avLst>
          </a:prstGeom>
          <a:ln w="19050" cap="rnd">
            <a:solidFill>
              <a:srgbClr val="CC00DC"/>
            </a:solidFill>
            <a:miter lim="800000"/>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2DF4E270-0A0F-6DF5-3901-0616D9B36FDD}"/>
              </a:ext>
            </a:extLst>
          </p:cNvPr>
          <p:cNvCxnSpPr>
            <a:cxnSpLocks/>
          </p:cNvCxnSpPr>
          <p:nvPr/>
        </p:nvCxnSpPr>
        <p:spPr>
          <a:xfrm>
            <a:off x="6488681" y="1776481"/>
            <a:ext cx="2250814" cy="492123"/>
          </a:xfrm>
          <a:prstGeom prst="bentConnector3">
            <a:avLst>
              <a:gd name="adj1" fmla="val 79457"/>
            </a:avLst>
          </a:prstGeom>
          <a:ln w="19050" cap="rnd">
            <a:solidFill>
              <a:srgbClr val="0C70E4"/>
            </a:solidFill>
            <a:miter lim="800000"/>
            <a:headEnd type="none" w="sm" len="sm"/>
            <a:tailEnd type="triangle" w="sm" len="med"/>
          </a:ln>
        </p:spPr>
        <p:style>
          <a:lnRef idx="1">
            <a:schemeClr val="accent1"/>
          </a:lnRef>
          <a:fillRef idx="0">
            <a:schemeClr val="accent1"/>
          </a:fillRef>
          <a:effectRef idx="0">
            <a:schemeClr val="accent1"/>
          </a:effectRef>
          <a:fontRef idx="minor">
            <a:schemeClr val="tx1"/>
          </a:fontRef>
        </p:style>
      </p:cxnSp>
      <p:sp>
        <p:nvSpPr>
          <p:cNvPr id="110" name="Rounded Rectangle 109">
            <a:extLst>
              <a:ext uri="{FF2B5EF4-FFF2-40B4-BE49-F238E27FC236}">
                <a16:creationId xmlns:a16="http://schemas.microsoft.com/office/drawing/2014/main" id="{B00970B0-213B-4DAA-687C-4FB3E89EC7C5}"/>
              </a:ext>
            </a:extLst>
          </p:cNvPr>
          <p:cNvSpPr/>
          <p:nvPr/>
        </p:nvSpPr>
        <p:spPr>
          <a:xfrm>
            <a:off x="6890497" y="1899002"/>
            <a:ext cx="647831" cy="215944"/>
          </a:xfrm>
          <a:prstGeom prst="roundRect">
            <a:avLst>
              <a:gd name="adj" fmla="val 50000"/>
            </a:avLst>
          </a:prstGeom>
          <a:solidFill>
            <a:schemeClr val="bg1">
              <a:lumMod val="9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Embeddings (Prompt)</a:t>
            </a: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4" name="Rounded Rectangle 83">
            <a:extLst>
              <a:ext uri="{FF2B5EF4-FFF2-40B4-BE49-F238E27FC236}">
                <a16:creationId xmlns:a16="http://schemas.microsoft.com/office/drawing/2014/main" id="{85FFD174-CCEA-66BE-B1E7-5E2037B4BAD4}"/>
              </a:ext>
            </a:extLst>
          </p:cNvPr>
          <p:cNvSpPr/>
          <p:nvPr/>
        </p:nvSpPr>
        <p:spPr>
          <a:xfrm>
            <a:off x="6817799" y="1643530"/>
            <a:ext cx="647831" cy="215944"/>
          </a:xfrm>
          <a:prstGeom prst="roundRect">
            <a:avLst>
              <a:gd name="adj" fmla="val 50000"/>
            </a:avLst>
          </a:prstGeom>
          <a:solidFill>
            <a:srgbClr val="354A5F"/>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Embeddings (JSON)</a:t>
            </a:r>
            <a:endParaRPr lang="en-DE"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0" name="Rounded Rectangle 89">
            <a:extLst>
              <a:ext uri="{FF2B5EF4-FFF2-40B4-BE49-F238E27FC236}">
                <a16:creationId xmlns:a16="http://schemas.microsoft.com/office/drawing/2014/main" id="{30CD7F93-8AC1-811D-EE66-D1DB3ED6E66B}"/>
              </a:ext>
            </a:extLst>
          </p:cNvPr>
          <p:cNvSpPr/>
          <p:nvPr/>
        </p:nvSpPr>
        <p:spPr>
          <a:xfrm>
            <a:off x="6936004" y="2582417"/>
            <a:ext cx="627161" cy="215944"/>
          </a:xfrm>
          <a:prstGeom prst="roundRect">
            <a:avLst>
              <a:gd name="adj" fmla="val 50000"/>
            </a:avLst>
          </a:prstGeom>
          <a:solidFill>
            <a:schemeClr val="bg1">
              <a:lumMod val="9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AI Adapter (Summarize)</a:t>
            </a:r>
            <a:endParaRPr lang="en-DE" sz="7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7971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500"/>
                                        <p:tgtEl>
                                          <p:spTgt spid="124"/>
                                        </p:tgtEl>
                                      </p:cBhvr>
                                    </p:animEffect>
                                  </p:childTnLst>
                                </p:cTn>
                              </p:par>
                              <p:par>
                                <p:cTn id="11" presetID="10" presetClass="entr" presetSubtype="0" fill="hold"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500"/>
                                        <p:tgtEl>
                                          <p:spTgt spid="125"/>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500"/>
                                        <p:tgtEl>
                                          <p:spTgt spid="103"/>
                                        </p:tgtEl>
                                      </p:cBhvr>
                                    </p:animEffect>
                                  </p:childTnLst>
                                </p:cTn>
                              </p:par>
                              <p:par>
                                <p:cTn id="17" presetID="10" presetClass="entr" presetSubtype="0" fill="hold" nodeType="withEffect">
                                  <p:stCondLst>
                                    <p:cond delay="0"/>
                                  </p:stCondLst>
                                  <p:childTnLst>
                                    <p:set>
                                      <p:cBhvr>
                                        <p:cTn id="18" dur="1" fill="hold">
                                          <p:stCondLst>
                                            <p:cond delay="0"/>
                                          </p:stCondLst>
                                        </p:cTn>
                                        <p:tgtEl>
                                          <p:spTgt spid="98"/>
                                        </p:tgtEl>
                                        <p:attrNameLst>
                                          <p:attrName>style.visibility</p:attrName>
                                        </p:attrNameLst>
                                      </p:cBhvr>
                                      <p:to>
                                        <p:strVal val="visible"/>
                                      </p:to>
                                    </p:set>
                                    <p:animEffect transition="in" filter="fade">
                                      <p:cBhvr>
                                        <p:cTn id="19" dur="500"/>
                                        <p:tgtEl>
                                          <p:spTgt spid="98"/>
                                        </p:tgtEl>
                                      </p:cBhvr>
                                    </p:animEffect>
                                  </p:childTnLst>
                                </p:cTn>
                              </p:par>
                              <p:par>
                                <p:cTn id="20" presetID="10" presetClass="entr" presetSubtype="0" fill="hold" nodeType="with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par>
                                <p:cTn id="23" presetID="10" presetClass="entr" presetSubtype="0" fill="hold" nodeType="withEffect">
                                  <p:stCondLst>
                                    <p:cond delay="0"/>
                                  </p:stCondLst>
                                  <p:childTnLst>
                                    <p:set>
                                      <p:cBhvr>
                                        <p:cTn id="24" dur="1" fill="hold">
                                          <p:stCondLst>
                                            <p:cond delay="0"/>
                                          </p:stCondLst>
                                        </p:cTn>
                                        <p:tgtEl>
                                          <p:spTgt spid="126"/>
                                        </p:tgtEl>
                                        <p:attrNameLst>
                                          <p:attrName>style.visibility</p:attrName>
                                        </p:attrNameLst>
                                      </p:cBhvr>
                                      <p:to>
                                        <p:strVal val="visible"/>
                                      </p:to>
                                    </p:set>
                                    <p:animEffect transition="in" filter="fade">
                                      <p:cBhvr>
                                        <p:cTn id="25" dur="500"/>
                                        <p:tgtEl>
                                          <p:spTgt spid="1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par>
                                <p:cTn id="37" presetID="22" presetClass="entr" presetSubtype="8"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5"/>
                                        </p:tgtEl>
                                        <p:attrNameLst>
                                          <p:attrName>style.visibility</p:attrName>
                                        </p:attrNameLst>
                                      </p:cBhvr>
                                      <p:to>
                                        <p:strVal val="visible"/>
                                      </p:to>
                                    </p:set>
                                    <p:animEffect transition="in" filter="fade">
                                      <p:cBhvr>
                                        <p:cTn id="46" dur="500"/>
                                        <p:tgtEl>
                                          <p:spTgt spid="10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6"/>
                                        </p:tgtEl>
                                        <p:attrNameLst>
                                          <p:attrName>style.visibility</p:attrName>
                                        </p:attrNameLst>
                                      </p:cBhvr>
                                      <p:to>
                                        <p:strVal val="visible"/>
                                      </p:to>
                                    </p:set>
                                    <p:animEffect transition="in" filter="fade">
                                      <p:cBhvr>
                                        <p:cTn id="49" dur="500"/>
                                        <p:tgtEl>
                                          <p:spTgt spid="106"/>
                                        </p:tgtEl>
                                      </p:cBhvr>
                                    </p:animEffect>
                                  </p:childTnLst>
                                </p:cTn>
                              </p:par>
                              <p:par>
                                <p:cTn id="50" presetID="10" presetClass="entr" presetSubtype="0" fill="hold" nodeType="withEffect">
                                  <p:stCondLst>
                                    <p:cond delay="0"/>
                                  </p:stCondLst>
                                  <p:childTnLst>
                                    <p:set>
                                      <p:cBhvr>
                                        <p:cTn id="51" dur="1" fill="hold">
                                          <p:stCondLst>
                                            <p:cond delay="0"/>
                                          </p:stCondLst>
                                        </p:cTn>
                                        <p:tgtEl>
                                          <p:spTgt spid="95"/>
                                        </p:tgtEl>
                                        <p:attrNameLst>
                                          <p:attrName>style.visibility</p:attrName>
                                        </p:attrNameLst>
                                      </p:cBhvr>
                                      <p:to>
                                        <p:strVal val="visible"/>
                                      </p:to>
                                    </p:set>
                                    <p:animEffect transition="in" filter="fade">
                                      <p:cBhvr>
                                        <p:cTn id="52" dur="500"/>
                                        <p:tgtEl>
                                          <p:spTgt spid="95"/>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fade">
                                      <p:cBhvr>
                                        <p:cTn id="64" dur="500"/>
                                        <p:tgtEl>
                                          <p:spTgt spid="60"/>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fade">
                                      <p:cBhvr>
                                        <p:cTn id="68" dur="500"/>
                                        <p:tgtEl>
                                          <p:spTgt spid="8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wipe(left)">
                                      <p:cBhvr>
                                        <p:cTn id="73" dur="500"/>
                                        <p:tgtEl>
                                          <p:spTgt spid="59"/>
                                        </p:tgtEl>
                                      </p:cBhvr>
                                    </p:animEffect>
                                  </p:childTnLst>
                                </p:cTn>
                              </p:par>
                            </p:childTnLst>
                          </p:cTn>
                        </p:par>
                        <p:par>
                          <p:cTn id="74" fill="hold">
                            <p:stCondLst>
                              <p:cond delay="500"/>
                            </p:stCondLst>
                            <p:childTnLst>
                              <p:par>
                                <p:cTn id="75" presetID="10" presetClass="entr" presetSubtype="0" fill="hold"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04"/>
                                        </p:tgtEl>
                                        <p:attrNameLst>
                                          <p:attrName>style.visibility</p:attrName>
                                        </p:attrNameLst>
                                      </p:cBhvr>
                                      <p:to>
                                        <p:strVal val="visible"/>
                                      </p:to>
                                    </p:set>
                                    <p:animEffect transition="in" filter="fade">
                                      <p:cBhvr>
                                        <p:cTn id="80" dur="500"/>
                                        <p:tgtEl>
                                          <p:spTgt spid="10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21"/>
                                        </p:tgtEl>
                                        <p:attrNameLst>
                                          <p:attrName>style.visibility</p:attrName>
                                        </p:attrNameLst>
                                      </p:cBhvr>
                                      <p:to>
                                        <p:strVal val="visible"/>
                                      </p:to>
                                    </p:set>
                                    <p:animEffect transition="in" filter="fade">
                                      <p:cBhvr>
                                        <p:cTn id="83" dur="500"/>
                                        <p:tgtEl>
                                          <p:spTgt spid="12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nodeType="clickEffect">
                                  <p:stCondLst>
                                    <p:cond delay="0"/>
                                  </p:stCondLst>
                                  <p:childTnLst>
                                    <p:set>
                                      <p:cBhvr>
                                        <p:cTn id="87" dur="1" fill="hold">
                                          <p:stCondLst>
                                            <p:cond delay="0"/>
                                          </p:stCondLst>
                                        </p:cTn>
                                        <p:tgtEl>
                                          <p:spTgt spid="120"/>
                                        </p:tgtEl>
                                        <p:attrNameLst>
                                          <p:attrName>style.visibility</p:attrName>
                                        </p:attrNameLst>
                                      </p:cBhvr>
                                      <p:to>
                                        <p:strVal val="visible"/>
                                      </p:to>
                                    </p:set>
                                    <p:animEffect transition="in" filter="wipe(right)">
                                      <p:cBhvr>
                                        <p:cTn id="88" dur="500"/>
                                        <p:tgtEl>
                                          <p:spTgt spid="120"/>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animEffect transition="in" filter="fade">
                                      <p:cBhvr>
                                        <p:cTn id="92" dur="500"/>
                                        <p:tgtEl>
                                          <p:spTgt spid="12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500"/>
                                        <p:tgtEl>
                                          <p:spTgt spid="6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79"/>
                                        </p:tgtEl>
                                        <p:attrNameLst>
                                          <p:attrName>style.visibility</p:attrName>
                                        </p:attrNameLst>
                                      </p:cBhvr>
                                      <p:to>
                                        <p:strVal val="visible"/>
                                      </p:to>
                                    </p:set>
                                    <p:animEffect transition="in" filter="wipe(left)">
                                      <p:cBhvr>
                                        <p:cTn id="100" dur="500"/>
                                        <p:tgtEl>
                                          <p:spTgt spid="79"/>
                                        </p:tgtEl>
                                      </p:cBhvr>
                                    </p:animEffect>
                                  </p:childTnLst>
                                </p:cTn>
                              </p:par>
                            </p:childTnLst>
                          </p:cTn>
                        </p:par>
                        <p:par>
                          <p:cTn id="101" fill="hold">
                            <p:stCondLst>
                              <p:cond delay="500"/>
                            </p:stCondLst>
                            <p:childTnLst>
                              <p:par>
                                <p:cTn id="102" presetID="10" presetClass="entr" presetSubtype="0" fill="hold" grpId="0" nodeType="afterEffect">
                                  <p:stCondLst>
                                    <p:cond delay="0"/>
                                  </p:stCondLst>
                                  <p:childTnLst>
                                    <p:set>
                                      <p:cBhvr>
                                        <p:cTn id="103" dur="1" fill="hold">
                                          <p:stCondLst>
                                            <p:cond delay="0"/>
                                          </p:stCondLst>
                                        </p:cTn>
                                        <p:tgtEl>
                                          <p:spTgt spid="84"/>
                                        </p:tgtEl>
                                        <p:attrNameLst>
                                          <p:attrName>style.visibility</p:attrName>
                                        </p:attrNameLst>
                                      </p:cBhvr>
                                      <p:to>
                                        <p:strVal val="visible"/>
                                      </p:to>
                                    </p:set>
                                    <p:animEffect transition="in" filter="fade">
                                      <p:cBhvr>
                                        <p:cTn id="104" dur="500"/>
                                        <p:tgtEl>
                                          <p:spTgt spid="8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7"/>
                                        </p:tgtEl>
                                        <p:attrNameLst>
                                          <p:attrName>style.visibility</p:attrName>
                                        </p:attrNameLst>
                                      </p:cBhvr>
                                      <p:to>
                                        <p:strVal val="visible"/>
                                      </p:to>
                                    </p:set>
                                    <p:animEffect transition="in" filter="fade">
                                      <p:cBhvr>
                                        <p:cTn id="107" dur="500"/>
                                        <p:tgtEl>
                                          <p:spTgt spid="77"/>
                                        </p:tgtEl>
                                      </p:cBhvr>
                                    </p:animEffect>
                                  </p:childTnLst>
                                </p:cTn>
                              </p:par>
                              <p:par>
                                <p:cTn id="108" presetID="10" presetClass="entr" presetSubtype="0" fill="hold" nodeType="withEffect">
                                  <p:stCondLst>
                                    <p:cond delay="0"/>
                                  </p:stCondLst>
                                  <p:childTnLst>
                                    <p:set>
                                      <p:cBhvr>
                                        <p:cTn id="109" dur="1" fill="hold">
                                          <p:stCondLst>
                                            <p:cond delay="0"/>
                                          </p:stCondLst>
                                        </p:cTn>
                                        <p:tgtEl>
                                          <p:spTgt spid="135"/>
                                        </p:tgtEl>
                                        <p:attrNameLst>
                                          <p:attrName>style.visibility</p:attrName>
                                        </p:attrNameLst>
                                      </p:cBhvr>
                                      <p:to>
                                        <p:strVal val="visible"/>
                                      </p:to>
                                    </p:set>
                                    <p:animEffect transition="in" filter="fade">
                                      <p:cBhvr>
                                        <p:cTn id="110" dur="500"/>
                                        <p:tgtEl>
                                          <p:spTgt spid="13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80"/>
                                        </p:tgtEl>
                                        <p:attrNameLst>
                                          <p:attrName>style.visibility</p:attrName>
                                        </p:attrNameLst>
                                      </p:cBhvr>
                                      <p:to>
                                        <p:strVal val="visible"/>
                                      </p:to>
                                    </p:set>
                                    <p:animEffect transition="in" filter="wipe(up)">
                                      <p:cBhvr>
                                        <p:cTn id="115" dur="500"/>
                                        <p:tgtEl>
                                          <p:spTgt spid="80"/>
                                        </p:tgtEl>
                                      </p:cBhvr>
                                    </p:animEffect>
                                  </p:childTnLst>
                                </p:cTn>
                              </p:par>
                            </p:childTnLst>
                          </p:cTn>
                        </p:par>
                        <p:par>
                          <p:cTn id="116" fill="hold">
                            <p:stCondLst>
                              <p:cond delay="500"/>
                            </p:stCondLst>
                            <p:childTnLst>
                              <p:par>
                                <p:cTn id="117" presetID="10" presetClass="entr" presetSubtype="0" fill="hold" grpId="0" nodeType="afterEffect">
                                  <p:stCondLst>
                                    <p:cond delay="0"/>
                                  </p:stCondLst>
                                  <p:childTnLst>
                                    <p:set>
                                      <p:cBhvr>
                                        <p:cTn id="118" dur="1" fill="hold">
                                          <p:stCondLst>
                                            <p:cond delay="0"/>
                                          </p:stCondLst>
                                        </p:cTn>
                                        <p:tgtEl>
                                          <p:spTgt spid="78"/>
                                        </p:tgtEl>
                                        <p:attrNameLst>
                                          <p:attrName>style.visibility</p:attrName>
                                        </p:attrNameLst>
                                      </p:cBhvr>
                                      <p:to>
                                        <p:strVal val="visible"/>
                                      </p:to>
                                    </p:set>
                                    <p:animEffect transition="in" filter="fade">
                                      <p:cBhvr>
                                        <p:cTn id="119" dur="500"/>
                                        <p:tgtEl>
                                          <p:spTgt spid="7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07"/>
                                        </p:tgtEl>
                                        <p:attrNameLst>
                                          <p:attrName>style.visibility</p:attrName>
                                        </p:attrNameLst>
                                      </p:cBhvr>
                                      <p:to>
                                        <p:strVal val="visible"/>
                                      </p:to>
                                    </p:set>
                                    <p:animEffect transition="in" filter="fade">
                                      <p:cBhvr>
                                        <p:cTn id="122" dur="500"/>
                                        <p:tgtEl>
                                          <p:spTgt spid="107"/>
                                        </p:tgtEl>
                                      </p:cBhvr>
                                    </p:animEffect>
                                  </p:childTnLst>
                                </p:cTn>
                              </p:par>
                              <p:par>
                                <p:cTn id="123" presetID="10" presetClass="entr" presetSubtype="0" fill="hold" nodeType="withEffect">
                                  <p:stCondLst>
                                    <p:cond delay="0"/>
                                  </p:stCondLst>
                                  <p:childTnLst>
                                    <p:set>
                                      <p:cBhvr>
                                        <p:cTn id="124" dur="1" fill="hold">
                                          <p:stCondLst>
                                            <p:cond delay="0"/>
                                          </p:stCondLst>
                                        </p:cTn>
                                        <p:tgtEl>
                                          <p:spTgt spid="7"/>
                                        </p:tgtEl>
                                        <p:attrNameLst>
                                          <p:attrName>style.visibility</p:attrName>
                                        </p:attrNameLst>
                                      </p:cBhvr>
                                      <p:to>
                                        <p:strVal val="visible"/>
                                      </p:to>
                                    </p:set>
                                    <p:animEffect transition="in" filter="fade">
                                      <p:cBhvr>
                                        <p:cTn id="125" dur="500"/>
                                        <p:tgtEl>
                                          <p:spTgt spid="7"/>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128"/>
                                        </p:tgtEl>
                                        <p:attrNameLst>
                                          <p:attrName>style.visibility</p:attrName>
                                        </p:attrNameLst>
                                      </p:cBhvr>
                                      <p:to>
                                        <p:strVal val="visible"/>
                                      </p:to>
                                    </p:set>
                                    <p:animEffect transition="in" filter="fade">
                                      <p:cBhvr>
                                        <p:cTn id="130" dur="500"/>
                                        <p:tgtEl>
                                          <p:spTgt spid="128"/>
                                        </p:tgtEl>
                                      </p:cBhvr>
                                    </p:animEffect>
                                  </p:childTnLst>
                                </p:cTn>
                              </p:par>
                              <p:par>
                                <p:cTn id="131" presetID="10" presetClass="entr" presetSubtype="0" fill="hold" nodeType="with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500"/>
                                        <p:tgtEl>
                                          <p:spTgt spid="32"/>
                                        </p:tgtEl>
                                      </p:cBhvr>
                                    </p:animEffect>
                                  </p:childTnLst>
                                </p:cTn>
                              </p:par>
                              <p:par>
                                <p:cTn id="134" presetID="10" presetClass="entr" presetSubtype="0" fill="hold" nodeType="withEffect">
                                  <p:stCondLst>
                                    <p:cond delay="0"/>
                                  </p:stCondLst>
                                  <p:childTnLst>
                                    <p:set>
                                      <p:cBhvr>
                                        <p:cTn id="135" dur="1" fill="hold">
                                          <p:stCondLst>
                                            <p:cond delay="0"/>
                                          </p:stCondLst>
                                        </p:cTn>
                                        <p:tgtEl>
                                          <p:spTgt spid="129"/>
                                        </p:tgtEl>
                                        <p:attrNameLst>
                                          <p:attrName>style.visibility</p:attrName>
                                        </p:attrNameLst>
                                      </p:cBhvr>
                                      <p:to>
                                        <p:strVal val="visible"/>
                                      </p:to>
                                    </p:set>
                                    <p:animEffect transition="in" filter="fade">
                                      <p:cBhvr>
                                        <p:cTn id="136" dur="500"/>
                                        <p:tgtEl>
                                          <p:spTgt spid="129"/>
                                        </p:tgtEl>
                                      </p:cBhvr>
                                    </p:animEffect>
                                  </p:childTnLst>
                                </p:cTn>
                              </p:par>
                            </p:childTnLst>
                          </p:cTn>
                        </p:par>
                        <p:par>
                          <p:cTn id="137" fill="hold">
                            <p:stCondLst>
                              <p:cond delay="500"/>
                            </p:stCondLst>
                            <p:childTnLst>
                              <p:par>
                                <p:cTn id="138" presetID="22" presetClass="entr" presetSubtype="8" fill="hold" nodeType="after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wipe(left)">
                                      <p:cBhvr>
                                        <p:cTn id="140" dur="5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82"/>
                                        </p:tgtEl>
                                        <p:attrNameLst>
                                          <p:attrName>style.visibility</p:attrName>
                                        </p:attrNameLst>
                                      </p:cBhvr>
                                      <p:to>
                                        <p:strVal val="visible"/>
                                      </p:to>
                                    </p:set>
                                    <p:animEffect transition="in" filter="fade">
                                      <p:cBhvr>
                                        <p:cTn id="143" dur="500"/>
                                        <p:tgtEl>
                                          <p:spTgt spid="8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6" dur="500"/>
                                        <p:tgtEl>
                                          <p:spTgt spid="54"/>
                                        </p:tgtEl>
                                      </p:cBhvr>
                                    </p:animEffect>
                                  </p:childTnLst>
                                </p:cTn>
                              </p:par>
                              <p:par>
                                <p:cTn id="147" presetID="10" presetClass="entr" presetSubtype="0" fill="hold" nodeType="withEffect">
                                  <p:stCondLst>
                                    <p:cond delay="0"/>
                                  </p:stCondLst>
                                  <p:childTnLst>
                                    <p:set>
                                      <p:cBhvr>
                                        <p:cTn id="148" dur="1" fill="hold">
                                          <p:stCondLst>
                                            <p:cond delay="0"/>
                                          </p:stCondLst>
                                        </p:cTn>
                                        <p:tgtEl>
                                          <p:spTgt spid="29"/>
                                        </p:tgtEl>
                                        <p:attrNameLst>
                                          <p:attrName>style.visibility</p:attrName>
                                        </p:attrNameLst>
                                      </p:cBhvr>
                                      <p:to>
                                        <p:strVal val="visible"/>
                                      </p:to>
                                    </p:set>
                                    <p:animEffect transition="in" filter="fade">
                                      <p:cBhvr>
                                        <p:cTn id="149" dur="500"/>
                                        <p:tgtEl>
                                          <p:spTgt spid="29"/>
                                        </p:tgtEl>
                                      </p:cBhvr>
                                    </p:animEffect>
                                  </p:childTnLst>
                                </p:cTn>
                              </p:par>
                            </p:childTnLst>
                          </p:cTn>
                        </p:par>
                        <p:par>
                          <p:cTn id="150" fill="hold">
                            <p:stCondLst>
                              <p:cond delay="1000"/>
                            </p:stCondLst>
                            <p:childTnLst>
                              <p:par>
                                <p:cTn id="151" presetID="10" presetClass="entr" presetSubtype="0" fill="hold" nodeType="afterEffect">
                                  <p:stCondLst>
                                    <p:cond delay="0"/>
                                  </p:stCondLst>
                                  <p:childTnLst>
                                    <p:set>
                                      <p:cBhvr>
                                        <p:cTn id="152" dur="1" fill="hold">
                                          <p:stCondLst>
                                            <p:cond delay="0"/>
                                          </p:stCondLst>
                                        </p:cTn>
                                        <p:tgtEl>
                                          <p:spTgt spid="118"/>
                                        </p:tgtEl>
                                        <p:attrNameLst>
                                          <p:attrName>style.visibility</p:attrName>
                                        </p:attrNameLst>
                                      </p:cBhvr>
                                      <p:to>
                                        <p:strVal val="visible"/>
                                      </p:to>
                                    </p:set>
                                    <p:animEffect transition="in" filter="fade">
                                      <p:cBhvr>
                                        <p:cTn id="153" dur="500"/>
                                        <p:tgtEl>
                                          <p:spTgt spid="118"/>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19"/>
                                        </p:tgtEl>
                                        <p:attrNameLst>
                                          <p:attrName>style.visibility</p:attrName>
                                        </p:attrNameLst>
                                      </p:cBhvr>
                                      <p:to>
                                        <p:strVal val="visible"/>
                                      </p:to>
                                    </p:set>
                                    <p:animEffect transition="in" filter="fade">
                                      <p:cBhvr>
                                        <p:cTn id="156" dur="500"/>
                                        <p:tgtEl>
                                          <p:spTgt spid="119"/>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4" fill="hold" nodeType="clickEffect">
                                  <p:stCondLst>
                                    <p:cond delay="0"/>
                                  </p:stCondLst>
                                  <p:childTnLst>
                                    <p:set>
                                      <p:cBhvr>
                                        <p:cTn id="160" dur="1" fill="hold">
                                          <p:stCondLst>
                                            <p:cond delay="0"/>
                                          </p:stCondLst>
                                        </p:cTn>
                                        <p:tgtEl>
                                          <p:spTgt spid="111"/>
                                        </p:tgtEl>
                                        <p:attrNameLst>
                                          <p:attrName>style.visibility</p:attrName>
                                        </p:attrNameLst>
                                      </p:cBhvr>
                                      <p:to>
                                        <p:strVal val="visible"/>
                                      </p:to>
                                    </p:set>
                                    <p:animEffect transition="in" filter="wipe(down)">
                                      <p:cBhvr>
                                        <p:cTn id="161" dur="500"/>
                                        <p:tgtEl>
                                          <p:spTgt spid="111"/>
                                        </p:tgtEl>
                                      </p:cBhvr>
                                    </p:animEffect>
                                  </p:childTnLst>
                                </p:cTn>
                              </p:par>
                            </p:childTnLst>
                          </p:cTn>
                        </p:par>
                        <p:par>
                          <p:cTn id="162" fill="hold">
                            <p:stCondLst>
                              <p:cond delay="500"/>
                            </p:stCondLst>
                            <p:childTnLst>
                              <p:par>
                                <p:cTn id="163" presetID="10" presetClass="entr" presetSubtype="0" fill="hold" grpId="0" nodeType="afterEffect">
                                  <p:stCondLst>
                                    <p:cond delay="0"/>
                                  </p:stCondLst>
                                  <p:childTnLst>
                                    <p:set>
                                      <p:cBhvr>
                                        <p:cTn id="164" dur="1" fill="hold">
                                          <p:stCondLst>
                                            <p:cond delay="0"/>
                                          </p:stCondLst>
                                        </p:cTn>
                                        <p:tgtEl>
                                          <p:spTgt spid="112"/>
                                        </p:tgtEl>
                                        <p:attrNameLst>
                                          <p:attrName>style.visibility</p:attrName>
                                        </p:attrNameLst>
                                      </p:cBhvr>
                                      <p:to>
                                        <p:strVal val="visible"/>
                                      </p:to>
                                    </p:set>
                                    <p:animEffect transition="in" filter="fade">
                                      <p:cBhvr>
                                        <p:cTn id="165" dur="500"/>
                                        <p:tgtEl>
                                          <p:spTgt spid="112"/>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83"/>
                                        </p:tgtEl>
                                        <p:attrNameLst>
                                          <p:attrName>style.visibility</p:attrName>
                                        </p:attrNameLst>
                                      </p:cBhvr>
                                      <p:to>
                                        <p:strVal val="visible"/>
                                      </p:to>
                                    </p:set>
                                    <p:animEffect transition="in" filter="fade">
                                      <p:cBhvr>
                                        <p:cTn id="168" dur="500"/>
                                        <p:tgtEl>
                                          <p:spTgt spid="83"/>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109"/>
                                        </p:tgtEl>
                                        <p:attrNameLst>
                                          <p:attrName>style.visibility</p:attrName>
                                        </p:attrNameLst>
                                      </p:cBhvr>
                                      <p:to>
                                        <p:strVal val="visible"/>
                                      </p:to>
                                    </p:set>
                                    <p:animEffect transition="in" filter="wipe(left)">
                                      <p:cBhvr>
                                        <p:cTn id="173" dur="500"/>
                                        <p:tgtEl>
                                          <p:spTgt spid="109"/>
                                        </p:tgtEl>
                                      </p:cBhvr>
                                    </p:animEffect>
                                  </p:childTnLst>
                                </p:cTn>
                              </p:par>
                            </p:childTnLst>
                          </p:cTn>
                        </p:par>
                        <p:par>
                          <p:cTn id="174" fill="hold">
                            <p:stCondLst>
                              <p:cond delay="500"/>
                            </p:stCondLst>
                            <p:childTnLst>
                              <p:par>
                                <p:cTn id="175" presetID="10" presetClass="entr" presetSubtype="0" fill="hold" grpId="0" nodeType="afterEffect">
                                  <p:stCondLst>
                                    <p:cond delay="0"/>
                                  </p:stCondLst>
                                  <p:childTnLst>
                                    <p:set>
                                      <p:cBhvr>
                                        <p:cTn id="176" dur="1" fill="hold">
                                          <p:stCondLst>
                                            <p:cond delay="0"/>
                                          </p:stCondLst>
                                        </p:cTn>
                                        <p:tgtEl>
                                          <p:spTgt spid="89"/>
                                        </p:tgtEl>
                                        <p:attrNameLst>
                                          <p:attrName>style.visibility</p:attrName>
                                        </p:attrNameLst>
                                      </p:cBhvr>
                                      <p:to>
                                        <p:strVal val="visible"/>
                                      </p:to>
                                    </p:set>
                                    <p:animEffect transition="in" filter="fade">
                                      <p:cBhvr>
                                        <p:cTn id="177" dur="500"/>
                                        <p:tgtEl>
                                          <p:spTgt spid="89"/>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110"/>
                                        </p:tgtEl>
                                        <p:attrNameLst>
                                          <p:attrName>style.visibility</p:attrName>
                                        </p:attrNameLst>
                                      </p:cBhvr>
                                      <p:to>
                                        <p:strVal val="visible"/>
                                      </p:to>
                                    </p:set>
                                    <p:animEffect transition="in" filter="fade">
                                      <p:cBhvr>
                                        <p:cTn id="180" dur="500"/>
                                        <p:tgtEl>
                                          <p:spTgt spid="110"/>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1" fill="hold" nodeType="clickEffect">
                                  <p:stCondLst>
                                    <p:cond delay="0"/>
                                  </p:stCondLst>
                                  <p:childTnLst>
                                    <p:set>
                                      <p:cBhvr>
                                        <p:cTn id="184" dur="1" fill="hold">
                                          <p:stCondLst>
                                            <p:cond delay="0"/>
                                          </p:stCondLst>
                                        </p:cTn>
                                        <p:tgtEl>
                                          <p:spTgt spid="86"/>
                                        </p:tgtEl>
                                        <p:attrNameLst>
                                          <p:attrName>style.visibility</p:attrName>
                                        </p:attrNameLst>
                                      </p:cBhvr>
                                      <p:to>
                                        <p:strVal val="visible"/>
                                      </p:to>
                                    </p:set>
                                    <p:animEffect transition="in" filter="wipe(up)">
                                      <p:cBhvr>
                                        <p:cTn id="185" dur="500"/>
                                        <p:tgtEl>
                                          <p:spTgt spid="86"/>
                                        </p:tgtEl>
                                      </p:cBhvr>
                                    </p:animEffect>
                                  </p:childTnLst>
                                </p:cTn>
                              </p:par>
                            </p:childTnLst>
                          </p:cTn>
                        </p:par>
                        <p:par>
                          <p:cTn id="186" fill="hold">
                            <p:stCondLst>
                              <p:cond delay="500"/>
                            </p:stCondLst>
                            <p:childTnLst>
                              <p:par>
                                <p:cTn id="187" presetID="10" presetClass="entr" presetSubtype="0" fill="hold" grpId="0" nodeType="afterEffect">
                                  <p:stCondLst>
                                    <p:cond delay="0"/>
                                  </p:stCondLst>
                                  <p:childTnLst>
                                    <p:set>
                                      <p:cBhvr>
                                        <p:cTn id="188" dur="1" fill="hold">
                                          <p:stCondLst>
                                            <p:cond delay="0"/>
                                          </p:stCondLst>
                                        </p:cTn>
                                        <p:tgtEl>
                                          <p:spTgt spid="108"/>
                                        </p:tgtEl>
                                        <p:attrNameLst>
                                          <p:attrName>style.visibility</p:attrName>
                                        </p:attrNameLst>
                                      </p:cBhvr>
                                      <p:to>
                                        <p:strVal val="visible"/>
                                      </p:to>
                                    </p:set>
                                    <p:animEffect transition="in" filter="fade">
                                      <p:cBhvr>
                                        <p:cTn id="189" dur="500"/>
                                        <p:tgtEl>
                                          <p:spTgt spid="108"/>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87"/>
                                        </p:tgtEl>
                                        <p:attrNameLst>
                                          <p:attrName>style.visibility</p:attrName>
                                        </p:attrNameLst>
                                      </p:cBhvr>
                                      <p:to>
                                        <p:strVal val="visible"/>
                                      </p:to>
                                    </p:set>
                                    <p:animEffect transition="in" filter="fade">
                                      <p:cBhvr>
                                        <p:cTn id="192" dur="500"/>
                                        <p:tgtEl>
                                          <p:spTgt spid="87"/>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nodeType="clickEffect">
                                  <p:stCondLst>
                                    <p:cond delay="0"/>
                                  </p:stCondLst>
                                  <p:childTnLst>
                                    <p:set>
                                      <p:cBhvr>
                                        <p:cTn id="196" dur="1" fill="hold">
                                          <p:stCondLst>
                                            <p:cond delay="0"/>
                                          </p:stCondLst>
                                        </p:cTn>
                                        <p:tgtEl>
                                          <p:spTgt spid="88"/>
                                        </p:tgtEl>
                                        <p:attrNameLst>
                                          <p:attrName>style.visibility</p:attrName>
                                        </p:attrNameLst>
                                      </p:cBhvr>
                                      <p:to>
                                        <p:strVal val="visible"/>
                                      </p:to>
                                    </p:set>
                                    <p:animEffect transition="in" filter="wipe(left)">
                                      <p:cBhvr>
                                        <p:cTn id="197" dur="500"/>
                                        <p:tgtEl>
                                          <p:spTgt spid="88"/>
                                        </p:tgtEl>
                                      </p:cBhvr>
                                    </p:animEffect>
                                  </p:childTnLst>
                                </p:cTn>
                              </p:par>
                            </p:childTnLst>
                          </p:cTn>
                        </p:par>
                        <p:par>
                          <p:cTn id="198" fill="hold">
                            <p:stCondLst>
                              <p:cond delay="500"/>
                            </p:stCondLst>
                            <p:childTnLst>
                              <p:par>
                                <p:cTn id="199" presetID="10" presetClass="entr" presetSubtype="0" fill="hold" grpId="0" nodeType="afterEffect">
                                  <p:stCondLst>
                                    <p:cond delay="0"/>
                                  </p:stCondLst>
                                  <p:childTnLst>
                                    <p:set>
                                      <p:cBhvr>
                                        <p:cTn id="200" dur="1" fill="hold">
                                          <p:stCondLst>
                                            <p:cond delay="0"/>
                                          </p:stCondLst>
                                        </p:cTn>
                                        <p:tgtEl>
                                          <p:spTgt spid="90"/>
                                        </p:tgtEl>
                                        <p:attrNameLst>
                                          <p:attrName>style.visibility</p:attrName>
                                        </p:attrNameLst>
                                      </p:cBhvr>
                                      <p:to>
                                        <p:strVal val="visible"/>
                                      </p:to>
                                    </p:set>
                                    <p:animEffect transition="in" filter="fade">
                                      <p:cBhvr>
                                        <p:cTn id="201" dur="500"/>
                                        <p:tgtEl>
                                          <p:spTgt spid="9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85"/>
                                        </p:tgtEl>
                                        <p:attrNameLst>
                                          <p:attrName>style.visibility</p:attrName>
                                        </p:attrNameLst>
                                      </p:cBhvr>
                                      <p:to>
                                        <p:strVal val="visible"/>
                                      </p:to>
                                    </p:set>
                                    <p:animEffect transition="in" filter="fade">
                                      <p:cBhvr>
                                        <p:cTn id="204" dur="500"/>
                                        <p:tgtEl>
                                          <p:spTgt spid="85"/>
                                        </p:tgtEl>
                                      </p:cBhvr>
                                    </p:animEffect>
                                  </p:childTnLst>
                                </p:cTn>
                              </p:par>
                            </p:childTnLst>
                          </p:cTn>
                        </p:par>
                      </p:childTnLst>
                    </p:cTn>
                  </p:par>
                  <p:par>
                    <p:cTn id="205" fill="hold">
                      <p:stCondLst>
                        <p:cond delay="indefinite"/>
                      </p:stCondLst>
                      <p:childTnLst>
                        <p:par>
                          <p:cTn id="206" fill="hold">
                            <p:stCondLst>
                              <p:cond delay="0"/>
                            </p:stCondLst>
                            <p:childTnLst>
                              <p:par>
                                <p:cTn id="207" presetID="26" presetClass="emph" presetSubtype="0" repeatCount="10000" fill="hold" nodeType="clickEffect">
                                  <p:stCondLst>
                                    <p:cond delay="0"/>
                                  </p:stCondLst>
                                  <p:childTnLst>
                                    <p:animEffect transition="out" filter="fade">
                                      <p:cBhvr>
                                        <p:cTn id="208" dur="500" tmFilter="0, 0; .2, .5; .8, .5; 1, 0"/>
                                        <p:tgtEl>
                                          <p:spTgt spid="129"/>
                                        </p:tgtEl>
                                      </p:cBhvr>
                                    </p:animEffect>
                                    <p:animScale>
                                      <p:cBhvr>
                                        <p:cTn id="209" dur="250" autoRev="1" fill="hold"/>
                                        <p:tgtEl>
                                          <p:spTgt spid="129"/>
                                        </p:tgtEl>
                                      </p:cBhvr>
                                      <p:by x="105000" y="105000"/>
                                    </p:animScale>
                                  </p:childTnLst>
                                  <p:subTnLst>
                                    <p:animClr clrSpc="rgb" dir="cw">
                                      <p:cBhvr override="childStyle">
                                        <p:cTn dur="1" fill="hold" display="0" masterRel="nextClick" afterEffect="1"/>
                                        <p:tgtEl>
                                          <p:spTgt spid="129"/>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6" grpId="0" animBg="1"/>
      <p:bldP spid="54" grpId="0" animBg="1"/>
      <p:bldP spid="60" grpId="0" animBg="1"/>
      <p:bldP spid="61" grpId="0" animBg="1"/>
      <p:bldP spid="77" grpId="0" animBg="1"/>
      <p:bldP spid="78" grpId="0" animBg="1"/>
      <p:bldP spid="82" grpId="0" animBg="1"/>
      <p:bldP spid="85" grpId="0" animBg="1"/>
      <p:bldP spid="87" grpId="0" animBg="1"/>
      <p:bldP spid="89" grpId="0" animBg="1"/>
      <p:bldP spid="105" grpId="0" animBg="1"/>
      <p:bldP spid="106" grpId="0" animBg="1"/>
      <p:bldP spid="119" grpId="0" animBg="1"/>
      <p:bldP spid="121" grpId="0" animBg="1"/>
      <p:bldP spid="104" grpId="0" animBg="1"/>
      <p:bldP spid="28" grpId="0" animBg="1"/>
      <p:bldP spid="122" grpId="0" animBg="1"/>
      <p:bldP spid="107" grpId="0" animBg="1"/>
      <p:bldP spid="112" grpId="0" animBg="1"/>
      <p:bldP spid="108" grpId="0" animBg="1"/>
      <p:bldP spid="83" grpId="0" animBg="1"/>
      <p:bldP spid="110" grpId="0" animBg="1"/>
      <p:bldP spid="84" grpId="0" animBg="1"/>
      <p:bldP spid="9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81FEACF-B8E2-7DEA-1527-DD7D51780005}"/>
              </a:ext>
            </a:extLst>
          </p:cNvPr>
          <p:cNvSpPr>
            <a:spLocks noGrp="1"/>
          </p:cNvSpPr>
          <p:nvPr>
            <p:ph type="ctrTitle"/>
          </p:nvPr>
        </p:nvSpPr>
        <p:spPr>
          <a:xfrm>
            <a:off x="987274" y="2968183"/>
            <a:ext cx="5593410" cy="923090"/>
          </a:xfrm>
        </p:spPr>
        <p:txBody>
          <a:bodyPr/>
          <a:lstStyle/>
          <a:p>
            <a:r>
              <a:rPr lang="en-CA" dirty="0"/>
              <a:t>Thank you!</a:t>
            </a:r>
          </a:p>
        </p:txBody>
      </p:sp>
      <p:sp>
        <p:nvSpPr>
          <p:cNvPr id="12" name="Subtitle 11">
            <a:extLst>
              <a:ext uri="{FF2B5EF4-FFF2-40B4-BE49-F238E27FC236}">
                <a16:creationId xmlns:a16="http://schemas.microsoft.com/office/drawing/2014/main" id="{DD974FF2-7299-67F1-F8F6-4664127768A8}"/>
              </a:ext>
            </a:extLst>
          </p:cNvPr>
          <p:cNvSpPr>
            <a:spLocks noGrp="1"/>
          </p:cNvSpPr>
          <p:nvPr>
            <p:ph type="subTitle" idx="1"/>
          </p:nvPr>
        </p:nvSpPr>
        <p:spPr>
          <a:xfrm>
            <a:off x="1093680" y="4171944"/>
            <a:ext cx="7608208" cy="1655331"/>
          </a:xfrm>
        </p:spPr>
        <p:txBody>
          <a:bodyPr>
            <a:normAutofit/>
          </a:bodyPr>
          <a:lstStyle/>
          <a:p>
            <a:r>
              <a:rPr lang="en-CA" dirty="0"/>
              <a:t>Gayathri Narayana   | </a:t>
            </a:r>
            <a:r>
              <a:rPr lang="en-CA" dirty="0">
                <a:hlinkClick r:id="rId2">
                  <a:extLst>
                    <a:ext uri="{A12FA001-AC4F-418D-AE19-62706E023703}">
                      <ahyp:hlinkClr xmlns:ahyp="http://schemas.microsoft.com/office/drawing/2018/hyperlinkcolor" val="tx"/>
                    </a:ext>
                  </a:extLst>
                </a:hlinkClick>
              </a:rPr>
              <a:t>gayathri.narayana@sap.com</a:t>
            </a:r>
            <a:endParaRPr lang="en-CA" dirty="0"/>
          </a:p>
          <a:p>
            <a:r>
              <a:rPr lang="en-CA" dirty="0"/>
              <a:t>Rashmi Kumari        | </a:t>
            </a:r>
            <a:r>
              <a:rPr lang="en-US" dirty="0"/>
              <a:t>rashmi.kumari04@sap.com</a:t>
            </a:r>
          </a:p>
          <a:p>
            <a:r>
              <a:rPr lang="en-CA" dirty="0"/>
              <a:t>Vinayak Adkoli         | </a:t>
            </a:r>
            <a:r>
              <a:rPr lang="en-CA" dirty="0" err="1"/>
              <a:t>vi</a:t>
            </a:r>
            <a:r>
              <a:rPr lang="en-CA" dirty="0" err="1">
                <a:hlinkClick r:id="rId3">
                  <a:extLst>
                    <a:ext uri="{A12FA001-AC4F-418D-AE19-62706E023703}">
                      <ahyp:hlinkClr xmlns:ahyp="http://schemas.microsoft.com/office/drawing/2018/hyperlinkcolor" val="tx"/>
                    </a:ext>
                  </a:extLst>
                </a:hlinkClick>
              </a:rPr>
              <a:t>nayak.adkoli@sap.com</a:t>
            </a:r>
            <a:endParaRPr lang="en-CA" dirty="0"/>
          </a:p>
          <a:p>
            <a:endParaRPr lang="en-CA" dirty="0"/>
          </a:p>
        </p:txBody>
      </p:sp>
    </p:spTree>
    <p:extLst>
      <p:ext uri="{BB962C8B-B14F-4D97-AF65-F5344CB8AC3E}">
        <p14:creationId xmlns:p14="http://schemas.microsoft.com/office/powerpoint/2010/main" val="3841083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0D460-4409-5EBE-4AFF-930E3BE8B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C6C45-F700-67D1-B06A-760E78789C63}"/>
              </a:ext>
            </a:extLst>
          </p:cNvPr>
          <p:cNvSpPr>
            <a:spLocks noGrp="1"/>
          </p:cNvSpPr>
          <p:nvPr>
            <p:ph type="ctrTitle"/>
          </p:nvPr>
        </p:nvSpPr>
        <p:spPr>
          <a:xfrm>
            <a:off x="3778142" y="428809"/>
            <a:ext cx="4494063" cy="1042622"/>
          </a:xfrm>
        </p:spPr>
        <p:txBody>
          <a:bodyPr>
            <a:normAutofit/>
          </a:bodyPr>
          <a:lstStyle/>
          <a:p>
            <a:r>
              <a:rPr lang="en-US" dirty="0"/>
              <a:t>Thank you!</a:t>
            </a:r>
          </a:p>
        </p:txBody>
      </p:sp>
      <p:sp>
        <p:nvSpPr>
          <p:cNvPr id="5" name="TextBox 4">
            <a:extLst>
              <a:ext uri="{FF2B5EF4-FFF2-40B4-BE49-F238E27FC236}">
                <a16:creationId xmlns:a16="http://schemas.microsoft.com/office/drawing/2014/main" id="{064105D8-A9CC-4D02-B034-97767618AEBC}"/>
              </a:ext>
            </a:extLst>
          </p:cNvPr>
          <p:cNvSpPr txBox="1"/>
          <p:nvPr/>
        </p:nvSpPr>
        <p:spPr>
          <a:xfrm>
            <a:off x="867140" y="1920407"/>
            <a:ext cx="5152741" cy="4153902"/>
          </a:xfrm>
          <a:prstGeom prst="rect">
            <a:avLst/>
          </a:prstGeom>
          <a:solidFill>
            <a:srgbClr val="001235"/>
          </a:solidFill>
        </p:spPr>
        <p:txBody>
          <a:bodyPr rot="0" spcFirstLastPara="0" vertOverflow="overflow" horzOverflow="overflow" vert="horz" wrap="square" lIns="91416" tIns="45708" rIns="91416" bIns="45708" numCol="1" spcCol="0" rtlCol="0" fromWordArt="0" anchor="t" anchorCtr="0" forceAA="0" compatLnSpc="1">
            <a:prstTxWarp prst="textNoShape">
              <a:avLst/>
            </a:prstTxWarp>
            <a:spAutoFit/>
          </a:bodyPr>
          <a:lstStyle/>
          <a:p>
            <a:r>
              <a:rPr lang="en-US" sz="2399" b="1">
                <a:solidFill>
                  <a:schemeClr val="accent6"/>
                </a:solidFill>
                <a:ea typeface="+mn-lt"/>
                <a:cs typeface="+mn-lt"/>
              </a:rPr>
              <a:t>Enjoyed this session?</a:t>
            </a:r>
            <a:br>
              <a:rPr lang="en-US" sz="2399" b="1">
                <a:solidFill>
                  <a:schemeClr val="bg1"/>
                </a:solidFill>
                <a:ea typeface="+mn-lt"/>
                <a:cs typeface="+mn-lt"/>
              </a:rPr>
            </a:br>
            <a:r>
              <a:rPr lang="en-US" sz="2399" b="1">
                <a:solidFill>
                  <a:schemeClr val="bg1"/>
                </a:solidFill>
                <a:ea typeface="+mn-lt"/>
                <a:cs typeface="+mn-lt"/>
              </a:rPr>
              <a:t>Open the app and leave a review!</a:t>
            </a:r>
            <a:endParaRPr lang="en-US" sz="1799">
              <a:solidFill>
                <a:schemeClr val="bg1"/>
              </a:solidFill>
            </a:endParaRPr>
          </a:p>
          <a:p>
            <a:endParaRPr lang="en-US" sz="2399" b="1">
              <a:solidFill>
                <a:schemeClr val="bg1"/>
              </a:solidFill>
              <a:ea typeface="+mn-lt"/>
              <a:cs typeface="+mn-lt"/>
            </a:endParaRPr>
          </a:p>
          <a:p>
            <a:r>
              <a:rPr lang="en-US" sz="2399">
                <a:solidFill>
                  <a:schemeClr val="bg1"/>
                </a:solidFill>
                <a:ea typeface="+mn-lt"/>
                <a:cs typeface="+mn-lt"/>
              </a:rPr>
              <a:t>Don’t have the app?</a:t>
            </a:r>
            <a:br>
              <a:rPr lang="en-US" sz="2399">
                <a:solidFill>
                  <a:schemeClr val="bg1"/>
                </a:solidFill>
                <a:ea typeface="+mn-lt"/>
                <a:cs typeface="+mn-lt"/>
              </a:rPr>
            </a:br>
            <a:r>
              <a:rPr lang="en-US" sz="2399">
                <a:solidFill>
                  <a:schemeClr val="bg1"/>
                </a:solidFill>
                <a:ea typeface="+mn-lt"/>
                <a:cs typeface="+mn-lt"/>
              </a:rPr>
              <a:t> Scan the QR codes to download it.</a:t>
            </a:r>
            <a:endParaRPr lang="en-US" sz="1799">
              <a:solidFill>
                <a:schemeClr val="bg1"/>
              </a:solidFill>
            </a:endParaRPr>
          </a:p>
          <a:p>
            <a:endParaRPr lang="en-US" sz="2399">
              <a:solidFill>
                <a:schemeClr val="bg1"/>
              </a:solidFill>
              <a:ea typeface="+mn-lt"/>
              <a:cs typeface="+mn-lt"/>
            </a:endParaRPr>
          </a:p>
          <a:p>
            <a:r>
              <a:rPr lang="en-US" sz="2399">
                <a:solidFill>
                  <a:schemeClr val="bg1"/>
                </a:solidFill>
                <a:ea typeface="+mn-lt"/>
                <a:cs typeface="+mn-lt"/>
              </a:rPr>
              <a:t>Want all the slide decks?</a:t>
            </a:r>
            <a:br>
              <a:rPr lang="en-US" sz="2399">
                <a:solidFill>
                  <a:schemeClr val="bg1"/>
                </a:solidFill>
                <a:ea typeface="+mn-lt"/>
                <a:cs typeface="+mn-lt"/>
              </a:rPr>
            </a:br>
            <a:r>
              <a:rPr lang="en-US" sz="2399">
                <a:solidFill>
                  <a:schemeClr val="bg1"/>
                </a:solidFill>
                <a:ea typeface="+mn-lt"/>
                <a:cs typeface="+mn-lt"/>
              </a:rPr>
              <a:t> Complete the event survey—we’ll send the survey to your email </a:t>
            </a:r>
            <a:r>
              <a:rPr lang="en-US" sz="2399" b="1">
                <a:solidFill>
                  <a:schemeClr val="bg1"/>
                </a:solidFill>
                <a:ea typeface="+mn-lt"/>
                <a:cs typeface="+mn-lt"/>
              </a:rPr>
              <a:t>AFTER</a:t>
            </a:r>
            <a:r>
              <a:rPr lang="en-US" sz="2399">
                <a:solidFill>
                  <a:schemeClr val="bg1"/>
                </a:solidFill>
                <a:ea typeface="+mn-lt"/>
                <a:cs typeface="+mn-lt"/>
              </a:rPr>
              <a:t> the event.</a:t>
            </a:r>
            <a:endParaRPr lang="en-US" sz="1799">
              <a:solidFill>
                <a:schemeClr val="bg1"/>
              </a:solidFill>
            </a:endParaRPr>
          </a:p>
          <a:p>
            <a:endParaRPr lang="en-US" sz="2399"/>
          </a:p>
        </p:txBody>
      </p:sp>
      <p:pic>
        <p:nvPicPr>
          <p:cNvPr id="7" name="Picture 6" descr="A qr code with text&#10;&#10;AI-generated content may be incorrect.">
            <a:extLst>
              <a:ext uri="{FF2B5EF4-FFF2-40B4-BE49-F238E27FC236}">
                <a16:creationId xmlns:a16="http://schemas.microsoft.com/office/drawing/2014/main" id="{423347AE-D9EC-6AD3-AE15-172ADB149A85}"/>
              </a:ext>
            </a:extLst>
          </p:cNvPr>
          <p:cNvPicPr>
            <a:picLocks noChangeAspect="1"/>
          </p:cNvPicPr>
          <p:nvPr/>
        </p:nvPicPr>
        <p:blipFill>
          <a:blip r:embed="rId2"/>
          <a:stretch>
            <a:fillRect/>
          </a:stretch>
        </p:blipFill>
        <p:spPr>
          <a:xfrm>
            <a:off x="6879583" y="4139292"/>
            <a:ext cx="4698977" cy="2397617"/>
          </a:xfrm>
          <a:prstGeom prst="rect">
            <a:avLst/>
          </a:prstGeom>
        </p:spPr>
      </p:pic>
    </p:spTree>
    <p:extLst>
      <p:ext uri="{BB962C8B-B14F-4D97-AF65-F5344CB8AC3E}">
        <p14:creationId xmlns:p14="http://schemas.microsoft.com/office/powerpoint/2010/main" val="764054397"/>
      </p:ext>
    </p:extLst>
  </p:cSld>
  <p:clrMapOvr>
    <a:masterClrMapping/>
  </p:clrMapOvr>
</p:sld>
</file>

<file path=ppt/theme/theme1.xml><?xml version="1.0" encoding="utf-8"?>
<a:theme xmlns:a="http://schemas.openxmlformats.org/drawingml/2006/main" name="Office Theme">
  <a:themeElements>
    <a:clrScheme name="Best Practices">
      <a:dk1>
        <a:srgbClr val="000000"/>
      </a:dk1>
      <a:lt1>
        <a:srgbClr val="FFFFFF"/>
      </a:lt1>
      <a:dk2>
        <a:srgbClr val="200E29"/>
      </a:dk2>
      <a:lt2>
        <a:srgbClr val="E8E8E8"/>
      </a:lt2>
      <a:accent1>
        <a:srgbClr val="642B7E"/>
      </a:accent1>
      <a:accent2>
        <a:srgbClr val="F68D43"/>
      </a:accent2>
      <a:accent3>
        <a:srgbClr val="57C6D6"/>
      </a:accent3>
      <a:accent4>
        <a:srgbClr val="FF4E00"/>
      </a:accent4>
      <a:accent5>
        <a:srgbClr val="A02B93"/>
      </a:accent5>
      <a:accent6>
        <a:srgbClr val="FCC92C"/>
      </a:accent6>
      <a:hlink>
        <a:srgbClr val="642B7E"/>
      </a:hlink>
      <a:folHlink>
        <a:srgbClr val="642B7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DFA4FB0DC7F64D9FB072004623BE12" ma:contentTypeVersion="19" ma:contentTypeDescription="Create a new document." ma:contentTypeScope="" ma:versionID="889f1978f9ef05820970846e444cf2a3">
  <xsd:schema xmlns:xsd="http://www.w3.org/2001/XMLSchema" xmlns:xs="http://www.w3.org/2001/XMLSchema" xmlns:p="http://schemas.microsoft.com/office/2006/metadata/properties" xmlns:ns2="f30feb56-18b9-48ce-bf47-6e6900332ec3" xmlns:ns3="65da302c-6169-4251-a1a5-ae4ee56be4ef" targetNamespace="http://schemas.microsoft.com/office/2006/metadata/properties" ma:root="true" ma:fieldsID="011b5dd308397ecc337ab481188a5531" ns2:_="" ns3:_="">
    <xsd:import namespace="f30feb56-18b9-48ce-bf47-6e6900332ec3"/>
    <xsd:import namespace="65da302c-6169-4251-a1a5-ae4ee56be4e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EventHashCode" minOccurs="0"/>
                <xsd:element ref="ns3:MediaServiceGenerationTime" minOccurs="0"/>
                <xsd:element ref="ns3:MediaServiceAutoTags" minOccurs="0"/>
                <xsd:element ref="ns3:MediaServiceAutoKeyPoints" minOccurs="0"/>
                <xsd:element ref="ns3:MediaServiceKeyPoints" minOccurs="0"/>
                <xsd:element ref="ns3:MediaServiceDateTaken" minOccurs="0"/>
                <xsd:element ref="ns3:MediaServiceOCR" minOccurs="0"/>
                <xsd:element ref="ns3:lcf76f155ced4ddcb4097134ff3c332f" minOccurs="0"/>
                <xsd:element ref="ns2:TaxCatchAll" minOccurs="0"/>
                <xsd:element ref="ns3:MediaServiceObjectDetectorVersions"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0feb56-18b9-48ce-bf47-6e6900332ec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1" nillable="true" ma:displayName="Taxonomy Catch All Column" ma:hidden="true" ma:list="{d77f6fa9-64d5-4873-ae46-921c4dff1ae1}" ma:internalName="TaxCatchAll" ma:showField="CatchAllData" ma:web="f30feb56-18b9-48ce-bf47-6e6900332ec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5da302c-6169-4251-a1a5-ae4ee56be4ef"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6f15632-b304-49da-92fa-05eba147a0b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30feb56-18b9-48ce-bf47-6e6900332ec3" xsi:nil="true"/>
    <SharedWithUsers xmlns="f30feb56-18b9-48ce-bf47-6e6900332ec3">
      <UserInfo>
        <DisplayName>Sarah Hendrycks</DisplayName>
        <AccountId>17</AccountId>
        <AccountType/>
      </UserInfo>
      <UserInfo>
        <DisplayName>Autaum Kendle</DisplayName>
        <AccountId>6281</AccountId>
        <AccountType/>
      </UserInfo>
    </SharedWithUsers>
    <lcf76f155ced4ddcb4097134ff3c332f xmlns="65da302c-6169-4251-a1a5-ae4ee56be4e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69844C6-DCD0-486B-BFD0-32FD28562A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0feb56-18b9-48ce-bf47-6e6900332ec3"/>
    <ds:schemaRef ds:uri="65da302c-6169-4251-a1a5-ae4ee56be4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42DAA9-5067-4205-9EEB-39D51209CFCE}">
  <ds:schemaRefs>
    <ds:schemaRef ds:uri="http://schemas.microsoft.com/sharepoint/v3/contenttype/forms"/>
  </ds:schemaRefs>
</ds:datastoreItem>
</file>

<file path=customXml/itemProps3.xml><?xml version="1.0" encoding="utf-8"?>
<ds:datastoreItem xmlns:ds="http://schemas.openxmlformats.org/officeDocument/2006/customXml" ds:itemID="{E4383EC7-B83D-4352-A155-0C9F16D49043}">
  <ds:schemaRefs>
    <ds:schemaRef ds:uri="http://purl.org/dc/elements/1.1/"/>
    <ds:schemaRef ds:uri="http://schemas.microsoft.com/office/2006/metadata/properties"/>
    <ds:schemaRef ds:uri="http://schemas.microsoft.com/office/2006/documentManagement/types"/>
    <ds:schemaRef ds:uri="http://purl.org/dc/terms/"/>
    <ds:schemaRef ds:uri="http://purl.org/dc/dcmitype/"/>
    <ds:schemaRef ds:uri="cf8f83cd-d4c3-41d4-848e-f01163385fc1"/>
    <ds:schemaRef ds:uri="http://www.w3.org/XML/1998/namespace"/>
    <ds:schemaRef ds:uri="http://schemas.microsoft.com/office/infopath/2007/PartnerControls"/>
    <ds:schemaRef ds:uri="http://schemas.openxmlformats.org/package/2006/metadata/core-properties"/>
    <ds:schemaRef ds:uri="f30feb56-18b9-48ce-bf47-6e6900332ec3"/>
    <ds:schemaRef ds:uri="65da302c-6169-4251-a1a5-ae4ee56be4ef"/>
  </ds:schemaRefs>
</ds:datastoreItem>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193</TotalTime>
  <Words>438</Words>
  <Application>Microsoft Macintosh PowerPoint</Application>
  <PresentationFormat>Widescreen</PresentationFormat>
  <Paragraphs>72</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Helvetica Neue</vt:lpstr>
      <vt:lpstr>Helvetica Neue Light</vt:lpstr>
      <vt:lpstr>Office Theme</vt:lpstr>
      <vt:lpstr>Real-Time Data for AI Agents: Grounding with Event-Driven Architecture</vt:lpstr>
      <vt:lpstr>PowerPoint Presentation</vt:lpstr>
      <vt:lpstr>PowerPoint Presentation</vt:lpstr>
      <vt:lpstr>PowerPoint Presentation</vt:lpstr>
      <vt:lpstr>Thank you!</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Callahan</dc:creator>
  <cp:lastModifiedBy>Adkoli, Vinayak</cp:lastModifiedBy>
  <cp:revision>363</cp:revision>
  <dcterms:created xsi:type="dcterms:W3CDTF">2024-02-29T02:18:13Z</dcterms:created>
  <dcterms:modified xsi:type="dcterms:W3CDTF">2025-11-04T21:29:38Z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0x010100B0DFA4FB0DC7F64D9FB072004623BE12</vt:lpwstr>
  </property>
  <property fmtid="{D5CDD505-2E9C-101B-9397-08002B2CF9AE}" pid="3" name="MediaServiceImageTags">
    <vt:lpwstr/>
  </property>
</Properties>
</file>